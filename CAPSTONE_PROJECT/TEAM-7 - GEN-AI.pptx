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B32632-5B4C-4D0A-8F9E-A3B79F08A4A6}" v="4" dt="2026-09-03T12:52:28.041"/>
  </p1510:revLst>
</p1510:revInfo>
</file>

<file path=ppt/tableStyles.xml><?xml version="1.0" encoding="utf-8"?>
<a:tblStyleLst xmlns:a="http://schemas.openxmlformats.org/drawingml/2006/main" def="{E8EDC2CA-3220-4743-9830-670A320CF52A}">
  <a:tblStyle styleId="{E8EDC2CA-3220-4743-9830-670A320CF52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7E95693-1380-485A-A3F9-348DDAD55970}"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veen kumar C" userId="5745daa4cb124de9" providerId="LiveId" clId="{17CAB9B4-9869-407C-81DE-82117E326DA9}"/>
    <pc:docChg chg="undo custSel modSld">
      <pc:chgData name="Praveen kumar C" userId="5745daa4cb124de9" providerId="LiveId" clId="{17CAB9B4-9869-407C-81DE-82117E326DA9}" dt="2026-09-03T12:53:25.740" v="413" actId="1076"/>
      <pc:docMkLst>
        <pc:docMk/>
      </pc:docMkLst>
      <pc:sldChg chg="addSp delSp modSp mod modNotes">
        <pc:chgData name="Praveen kumar C" userId="5745daa4cb124de9" providerId="LiveId" clId="{17CAB9B4-9869-407C-81DE-82117E326DA9}" dt="2026-09-03T12:51:28.854" v="361" actId="1036"/>
        <pc:sldMkLst>
          <pc:docMk/>
          <pc:sldMk cId="0" sldId="269"/>
        </pc:sldMkLst>
        <pc:spChg chg="add del mod">
          <ac:chgData name="Praveen kumar C" userId="5745daa4cb124de9" providerId="LiveId" clId="{17CAB9B4-9869-407C-81DE-82117E326DA9}" dt="2026-09-03T12:46:56.729" v="9" actId="22"/>
          <ac:spMkLst>
            <pc:docMk/>
            <pc:sldMk cId="0" sldId="269"/>
            <ac:spMk id="4" creationId="{24AE3088-06EA-FAA5-995C-C9FF06EB2E38}"/>
          </ac:spMkLst>
        </pc:spChg>
        <pc:spChg chg="add mod">
          <ac:chgData name="Praveen kumar C" userId="5745daa4cb124de9" providerId="LiveId" clId="{17CAB9B4-9869-407C-81DE-82117E326DA9}" dt="2026-09-03T12:49:20.366" v="101" actId="1035"/>
          <ac:spMkLst>
            <pc:docMk/>
            <pc:sldMk cId="0" sldId="269"/>
            <ac:spMk id="6" creationId="{B9E69D2D-5547-CA68-E240-BBF81A3ACDDC}"/>
          </ac:spMkLst>
        </pc:spChg>
        <pc:spChg chg="add mod">
          <ac:chgData name="Praveen kumar C" userId="5745daa4cb124de9" providerId="LiveId" clId="{17CAB9B4-9869-407C-81DE-82117E326DA9}" dt="2026-09-03T12:49:42.763" v="223" actId="1036"/>
          <ac:spMkLst>
            <pc:docMk/>
            <pc:sldMk cId="0" sldId="269"/>
            <ac:spMk id="9" creationId="{8D2C6FCA-5692-2BAE-C2A6-0930023415BA}"/>
          </ac:spMkLst>
        </pc:spChg>
        <pc:spChg chg="add mod">
          <ac:chgData name="Praveen kumar C" userId="5745daa4cb124de9" providerId="LiveId" clId="{17CAB9B4-9869-407C-81DE-82117E326DA9}" dt="2026-09-03T12:51:13.579" v="337" actId="20577"/>
          <ac:spMkLst>
            <pc:docMk/>
            <pc:sldMk cId="0" sldId="269"/>
            <ac:spMk id="12" creationId="{2A5927D2-4F2F-1E37-23A7-9A380EC465F4}"/>
          </ac:spMkLst>
        </pc:spChg>
        <pc:spChg chg="mod">
          <ac:chgData name="Praveen kumar C" userId="5745daa4cb124de9" providerId="LiveId" clId="{17CAB9B4-9869-407C-81DE-82117E326DA9}" dt="2026-09-03T12:51:28.854" v="361" actId="1036"/>
          <ac:spMkLst>
            <pc:docMk/>
            <pc:sldMk cId="0" sldId="269"/>
            <ac:spMk id="169" creationId="{00000000-0000-0000-0000-000000000000}"/>
          </ac:spMkLst>
        </pc:spChg>
        <pc:picChg chg="add mod">
          <ac:chgData name="Praveen kumar C" userId="5745daa4cb124de9" providerId="LiveId" clId="{17CAB9B4-9869-407C-81DE-82117E326DA9}" dt="2026-09-03T12:49:09.643" v="83" actId="1036"/>
          <ac:picMkLst>
            <pc:docMk/>
            <pc:sldMk cId="0" sldId="269"/>
            <ac:picMk id="2" creationId="{E3E22A2C-EF20-1F24-2B3A-523A94C652B0}"/>
          </ac:picMkLst>
        </pc:picChg>
        <pc:picChg chg="add mod">
          <ac:chgData name="Praveen kumar C" userId="5745daa4cb124de9" providerId="LiveId" clId="{17CAB9B4-9869-407C-81DE-82117E326DA9}" dt="2026-09-03T12:50:51.588" v="230" actId="1076"/>
          <ac:picMkLst>
            <pc:docMk/>
            <pc:sldMk cId="0" sldId="269"/>
            <ac:picMk id="7" creationId="{72E8ADDA-8FBE-A0FD-7BAF-387A6BB83C8E}"/>
          </ac:picMkLst>
        </pc:picChg>
        <pc:picChg chg="add mod">
          <ac:chgData name="Praveen kumar C" userId="5745daa4cb124de9" providerId="LiveId" clId="{17CAB9B4-9869-407C-81DE-82117E326DA9}" dt="2026-09-03T12:50:05.124" v="227" actId="1076"/>
          <ac:picMkLst>
            <pc:docMk/>
            <pc:sldMk cId="0" sldId="269"/>
            <ac:picMk id="10" creationId="{3B59F575-A3A3-C08E-2B72-E889C9D0C438}"/>
          </ac:picMkLst>
        </pc:picChg>
      </pc:sldChg>
      <pc:sldChg chg="addSp modSp mod">
        <pc:chgData name="Praveen kumar C" userId="5745daa4cb124de9" providerId="LiveId" clId="{17CAB9B4-9869-407C-81DE-82117E326DA9}" dt="2026-09-03T12:53:25.740" v="413" actId="1076"/>
        <pc:sldMkLst>
          <pc:docMk/>
          <pc:sldMk cId="0" sldId="272"/>
        </pc:sldMkLst>
        <pc:spChg chg="add mod">
          <ac:chgData name="Praveen kumar C" userId="5745daa4cb124de9" providerId="LiveId" clId="{17CAB9B4-9869-407C-81DE-82117E326DA9}" dt="2026-09-03T12:53:25.740" v="413" actId="1076"/>
          <ac:spMkLst>
            <pc:docMk/>
            <pc:sldMk cId="0" sldId="272"/>
            <ac:spMk id="2" creationId="{98015882-441F-45B3-3925-63388C275DAA}"/>
          </ac:spMkLst>
        </pc:spChg>
        <pc:spChg chg="mod">
          <ac:chgData name="Praveen kumar C" userId="5745daa4cb124de9" providerId="LiveId" clId="{17CAB9B4-9869-407C-81DE-82117E326DA9}" dt="2026-09-03T12:52:19.653" v="379" actId="20577"/>
          <ac:spMkLst>
            <pc:docMk/>
            <pc:sldMk cId="0" sldId="272"/>
            <ac:spMk id="18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
        <p:cNvGrpSpPr/>
        <p:nvPr/>
      </p:nvGrpSpPr>
      <p:grpSpPr>
        <a:xfrm>
          <a:off x="0" y="0"/>
          <a:ext cx="0" cy="0"/>
          <a:chOff x="0" y="0"/>
          <a:chExt cx="0" cy="0"/>
        </a:xfrm>
      </p:grpSpPr>
      <p:sp>
        <p:nvSpPr>
          <p:cNvPr id="24" name="Google Shape;24;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p:nvPr/>
        </p:nvSpPr>
        <p:spPr>
          <a:xfrm>
            <a:off x="533400" y="1591888"/>
            <a:ext cx="11125200"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1E4E79"/>
              </a:buClr>
              <a:buSzPts val="2800"/>
              <a:buFont typeface="Cambria"/>
              <a:buNone/>
            </a:pPr>
            <a:r>
              <a:rPr lang="en-IN" sz="2800" b="1" i="0" u="none" strike="noStrike" cap="none">
                <a:solidFill>
                  <a:srgbClr val="1E4E79"/>
                </a:solidFill>
                <a:latin typeface="Cambria"/>
                <a:ea typeface="Cambria"/>
                <a:cs typeface="Cambria"/>
                <a:sym typeface="Cambria"/>
              </a:rPr>
              <a:t>CSA6502 – GENERATIVE AI AND LARGE SCALE MODEL</a:t>
            </a:r>
            <a:endParaRPr/>
          </a:p>
        </p:txBody>
      </p:sp>
      <p:sp>
        <p:nvSpPr>
          <p:cNvPr id="85" name="Google Shape;85;p13"/>
          <p:cNvSpPr txBox="1"/>
          <p:nvPr/>
        </p:nvSpPr>
        <p:spPr>
          <a:xfrm>
            <a:off x="4236538" y="2260195"/>
            <a:ext cx="3403782"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i="0" u="none" strike="noStrike" cap="none">
                <a:solidFill>
                  <a:srgbClr val="538135"/>
                </a:solidFill>
                <a:latin typeface="Cambria"/>
                <a:ea typeface="Cambria"/>
                <a:cs typeface="Cambria"/>
                <a:sym typeface="Cambria"/>
              </a:rPr>
              <a:t>MS1 Jul-Sep 2026 - SLOT A</a:t>
            </a:r>
            <a:endParaRPr sz="2000">
              <a:solidFill>
                <a:srgbClr val="538135"/>
              </a:solidFill>
              <a:latin typeface="Cambria"/>
              <a:ea typeface="Cambria"/>
              <a:cs typeface="Cambria"/>
              <a:sym typeface="Cambria"/>
            </a:endParaRPr>
          </a:p>
        </p:txBody>
      </p:sp>
      <p:sp>
        <p:nvSpPr>
          <p:cNvPr id="86" name="Google Shape;86;p13"/>
          <p:cNvSpPr txBox="1"/>
          <p:nvPr/>
        </p:nvSpPr>
        <p:spPr>
          <a:xfrm>
            <a:off x="7384775" y="4484378"/>
            <a:ext cx="4807226" cy="1477328"/>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n-IN" sz="2000" b="0" i="1" u="none" strike="noStrike" cap="none">
                <a:solidFill>
                  <a:srgbClr val="7F6000"/>
                </a:solidFill>
                <a:latin typeface="Cambria"/>
                <a:ea typeface="Cambria"/>
                <a:cs typeface="Cambria"/>
                <a:sym typeface="Cambria"/>
              </a:rPr>
              <a:t>Presented by, </a:t>
            </a:r>
            <a:br>
              <a:rPr lang="en-IN" sz="2000" b="1" i="0" u="none" strike="noStrike" cap="none">
                <a:solidFill>
                  <a:srgbClr val="C00000"/>
                </a:solidFill>
                <a:latin typeface="Cambria"/>
                <a:ea typeface="Cambria"/>
                <a:cs typeface="Cambria"/>
                <a:sym typeface="Cambria"/>
              </a:rPr>
            </a:br>
            <a:r>
              <a:rPr lang="en-IN" sz="2000" b="1" i="0" u="none" strike="noStrike" cap="none">
                <a:solidFill>
                  <a:srgbClr val="C00000"/>
                </a:solidFill>
                <a:latin typeface="Cambria"/>
                <a:ea typeface="Cambria"/>
                <a:cs typeface="Cambria"/>
                <a:sym typeface="Cambria"/>
              </a:rPr>
              <a:t>192472034 – C. Praveen Kumar</a:t>
            </a:r>
            <a:endParaRPr/>
          </a:p>
          <a:p>
            <a:pPr marL="457200" marR="0" lvl="1" indent="0" algn="l" rtl="0">
              <a:spcBef>
                <a:spcPts val="550"/>
              </a:spcBef>
              <a:spcAft>
                <a:spcPts val="0"/>
              </a:spcAft>
              <a:buNone/>
            </a:pPr>
            <a:r>
              <a:rPr lang="en-IN" sz="2000" b="1" i="0" u="none" strike="noStrike" cap="none">
                <a:solidFill>
                  <a:srgbClr val="C00000"/>
                </a:solidFill>
                <a:latin typeface="Cambria"/>
                <a:ea typeface="Cambria"/>
                <a:cs typeface="Cambria"/>
                <a:sym typeface="Cambria"/>
              </a:rPr>
              <a:t>192472027 – N. Sunil Kumar</a:t>
            </a:r>
            <a:endParaRPr/>
          </a:p>
          <a:p>
            <a:pPr marL="457200" marR="0" lvl="1" indent="0" algn="l" rtl="0">
              <a:spcBef>
                <a:spcPts val="550"/>
              </a:spcBef>
              <a:spcAft>
                <a:spcPts val="0"/>
              </a:spcAft>
              <a:buNone/>
            </a:pPr>
            <a:r>
              <a:rPr lang="en-IN" sz="2000" b="1" i="0" u="none" strike="noStrike" cap="none">
                <a:solidFill>
                  <a:srgbClr val="C00000"/>
                </a:solidFill>
                <a:latin typeface="Cambria"/>
                <a:ea typeface="Cambria"/>
                <a:cs typeface="Cambria"/>
                <a:sym typeface="Cambria"/>
              </a:rPr>
              <a:t>192472332 – C. Chandu</a:t>
            </a:r>
            <a:endParaRPr sz="2000" b="1" i="0" u="none" strike="noStrike" cap="none">
              <a:solidFill>
                <a:srgbClr val="002060"/>
              </a:solidFill>
              <a:latin typeface="Cambria"/>
              <a:ea typeface="Cambria"/>
              <a:cs typeface="Cambria"/>
              <a:sym typeface="Cambria"/>
            </a:endParaRPr>
          </a:p>
        </p:txBody>
      </p:sp>
      <p:sp>
        <p:nvSpPr>
          <p:cNvPr id="87" name="Google Shape;87;p13"/>
          <p:cNvSpPr txBox="1"/>
          <p:nvPr/>
        </p:nvSpPr>
        <p:spPr>
          <a:xfrm>
            <a:off x="217714" y="2757846"/>
            <a:ext cx="11756572" cy="1077218"/>
          </a:xfrm>
          <a:prstGeom prst="rect">
            <a:avLst/>
          </a:prstGeom>
          <a:noFill/>
          <a:ln>
            <a:noFill/>
          </a:ln>
        </p:spPr>
        <p:txBody>
          <a:bodyPr spcFirstLastPara="1" wrap="square" lIns="91425" tIns="45700" rIns="91425" bIns="45700" anchor="t" anchorCtr="0">
            <a:spAutoFit/>
          </a:bodyPr>
          <a:lstStyle/>
          <a:p>
            <a:pPr marL="36195" marR="0" lvl="0" indent="0" algn="ctr" rtl="0">
              <a:spcBef>
                <a:spcPts val="0"/>
              </a:spcBef>
              <a:spcAft>
                <a:spcPts val="0"/>
              </a:spcAft>
              <a:buClr>
                <a:srgbClr val="833C0B"/>
              </a:buClr>
              <a:buSzPts val="3200"/>
              <a:buFont typeface="Cambria"/>
              <a:buNone/>
            </a:pPr>
            <a:r>
              <a:rPr lang="en-IN" sz="3200" b="1">
                <a:solidFill>
                  <a:srgbClr val="833C0B"/>
                </a:solidFill>
                <a:latin typeface="Cambria"/>
                <a:ea typeface="Cambria"/>
                <a:cs typeface="Cambria"/>
                <a:sym typeface="Cambria"/>
              </a:rPr>
              <a:t>Project GenTwin: An Generative Digital Twin for Supply Chain Disruption Simulation and Resilience Planning</a:t>
            </a:r>
            <a:endParaRPr sz="3200" b="1">
              <a:solidFill>
                <a:srgbClr val="833C0B"/>
              </a:solidFill>
              <a:latin typeface="Cambria"/>
              <a:ea typeface="Cambria"/>
              <a:cs typeface="Cambria"/>
              <a:sym typeface="Cambria"/>
            </a:endParaRPr>
          </a:p>
        </p:txBody>
      </p:sp>
      <p:sp>
        <p:nvSpPr>
          <p:cNvPr id="88" name="Google Shape;88;p13"/>
          <p:cNvSpPr txBox="1"/>
          <p:nvPr/>
        </p:nvSpPr>
        <p:spPr>
          <a:xfrm>
            <a:off x="182879" y="4887801"/>
            <a:ext cx="5303521" cy="707886"/>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n-IN" sz="2000" b="0" i="1" u="none" strike="noStrike" cap="none">
                <a:solidFill>
                  <a:srgbClr val="525252"/>
                </a:solidFill>
                <a:latin typeface="Cambria"/>
                <a:ea typeface="Cambria"/>
                <a:cs typeface="Cambria"/>
                <a:sym typeface="Cambria"/>
              </a:rPr>
              <a:t>Guided by, </a:t>
            </a:r>
            <a:br>
              <a:rPr lang="en-IN" sz="2000" b="1" i="0" u="none" strike="noStrike" cap="none">
                <a:solidFill>
                  <a:srgbClr val="C00000"/>
                </a:solidFill>
                <a:latin typeface="Cambria"/>
                <a:ea typeface="Cambria"/>
                <a:cs typeface="Cambria"/>
                <a:sym typeface="Cambria"/>
              </a:rPr>
            </a:br>
            <a:r>
              <a:rPr lang="en-IN" sz="2000" b="0" i="1" u="none" strike="noStrike" cap="none">
                <a:solidFill>
                  <a:srgbClr val="0070C0"/>
                </a:solidFill>
                <a:latin typeface="Cambria"/>
                <a:ea typeface="Cambria"/>
                <a:cs typeface="Cambria"/>
                <a:sym typeface="Cambria"/>
              </a:rPr>
              <a:t>Dr. Nithisha J</a:t>
            </a:r>
            <a:endParaRPr/>
          </a:p>
        </p:txBody>
      </p:sp>
      <p:pic>
        <p:nvPicPr>
          <p:cNvPr id="89" name="Google Shape;89;p13" descr="SSE-Computer Science and Engineering"/>
          <p:cNvPicPr preferRelativeResize="0"/>
          <p:nvPr/>
        </p:nvPicPr>
        <p:blipFill rotWithShape="1">
          <a:blip r:embed="rId3">
            <a:alphaModFix/>
          </a:blip>
          <a:srcRect/>
          <a:stretch/>
        </p:blipFill>
        <p:spPr>
          <a:xfrm>
            <a:off x="844200" y="119049"/>
            <a:ext cx="10449449" cy="119393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4"/>
          <p:cNvSpPr txBox="1"/>
          <p:nvPr/>
        </p:nvSpPr>
        <p:spPr>
          <a:xfrm>
            <a:off x="5016862" y="344381"/>
            <a:ext cx="2158275"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cap="small">
                <a:solidFill>
                  <a:srgbClr val="2F5496"/>
                </a:solidFill>
                <a:latin typeface="Cambria"/>
                <a:ea typeface="Cambria"/>
                <a:cs typeface="Cambria"/>
                <a:sym typeface="Cambria"/>
              </a:rPr>
              <a:t>Abstract</a:t>
            </a:r>
            <a:endParaRPr sz="3200" b="1" cap="small">
              <a:solidFill>
                <a:srgbClr val="2F5496"/>
              </a:solidFill>
              <a:latin typeface="Cambria"/>
              <a:ea typeface="Cambria"/>
              <a:cs typeface="Cambria"/>
              <a:sym typeface="Cambria"/>
            </a:endParaRPr>
          </a:p>
        </p:txBody>
      </p:sp>
      <p:sp>
        <p:nvSpPr>
          <p:cNvPr id="95" name="Google Shape;95;p14"/>
          <p:cNvSpPr txBox="1"/>
          <p:nvPr/>
        </p:nvSpPr>
        <p:spPr>
          <a:xfrm>
            <a:off x="925394" y="1958721"/>
            <a:ext cx="10485000" cy="369420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Clr>
                <a:schemeClr val="dk1"/>
              </a:buClr>
              <a:buSzPts val="1800"/>
              <a:buFont typeface="Times New Roman"/>
              <a:buNone/>
            </a:pPr>
            <a:r>
              <a:rPr lang="en-IN" sz="1800">
                <a:solidFill>
                  <a:schemeClr val="dk1"/>
                </a:solidFill>
                <a:latin typeface="Times New Roman"/>
                <a:ea typeface="Times New Roman"/>
                <a:cs typeface="Times New Roman"/>
                <a:sym typeface="Times New Roman"/>
              </a:rPr>
              <a:t>Supply chain disruptions caused by natural disasters, transportation delays, supplier failures, and sudden demand fluctuations can significantly impact business operations. This project proposes a Generative Digital Twin for Supply Chain Disruption Simulation and Resilience Planning, which combines Digital Twin technology with Generative AI to create a virtual model of the supply chain and simulate realistic disruption scenarios. The system analyzes the impact of these disruptions on inventory, logistics, and delivery performance while assessing potential risks. Based on the simulation results, it recommends optimal recovery strategies such as alternative suppliers, transportation routes, and inventory adjustments. By enabling proactive planning and informed decision-making, the proposed solution enhances supply chain resilience, minimizes operational risks, and improves business continuity in dynamic environments.</a:t>
            </a:r>
            <a:endParaRPr sz="1800" i="1">
              <a:solidFill>
                <a:srgbClr val="FF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5"/>
          <p:cNvSpPr txBox="1"/>
          <p:nvPr/>
        </p:nvSpPr>
        <p:spPr>
          <a:xfrm>
            <a:off x="4659085" y="283421"/>
            <a:ext cx="287382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cap="small">
                <a:solidFill>
                  <a:srgbClr val="2F5496"/>
                </a:solidFill>
                <a:latin typeface="Cambria"/>
                <a:ea typeface="Cambria"/>
                <a:cs typeface="Cambria"/>
                <a:sym typeface="Cambria"/>
              </a:rPr>
              <a:t>Introduction</a:t>
            </a:r>
            <a:endParaRPr sz="3200" b="1" cap="small">
              <a:solidFill>
                <a:srgbClr val="2F5496"/>
              </a:solidFill>
              <a:latin typeface="Cambria"/>
              <a:ea typeface="Cambria"/>
              <a:cs typeface="Cambria"/>
              <a:sym typeface="Cambria"/>
            </a:endParaRPr>
          </a:p>
        </p:txBody>
      </p:sp>
      <p:sp>
        <p:nvSpPr>
          <p:cNvPr id="101" name="Google Shape;101;p15"/>
          <p:cNvSpPr txBox="1"/>
          <p:nvPr/>
        </p:nvSpPr>
        <p:spPr>
          <a:xfrm>
            <a:off x="410725" y="1479359"/>
            <a:ext cx="11440886" cy="502855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Supply chains are essential for transporting products from suppliers to customers, but they are vulnerable to unexpected disruptions.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Digital Twin technology creates a virtual representation of the supply chain, allowing organizations to monitor and simulate operations in a risk-free environment.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Generative AI can generate realistic disruption scenarios, such as supplier failures, transportation delays, and sudden demand changes, for effective planning.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The project combines Digital Twin and Generative AI to simulate disruptions and analyze their impact on inventory, logistics, and delivery performance.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Based on the simulation results, the system provides resilience planning by recommending alternative suppliers, routes, and recovery strategies.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This approach helps organizations improve decision-making, reduce operational risks, and ensure business continuity through proactive supply chain management.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graphicFrame>
        <p:nvGraphicFramePr>
          <p:cNvPr id="106" name="Google Shape;106;p16"/>
          <p:cNvGraphicFramePr/>
          <p:nvPr/>
        </p:nvGraphicFramePr>
        <p:xfrm>
          <a:off x="231321" y="824140"/>
          <a:ext cx="11729350" cy="4903200"/>
        </p:xfrm>
        <a:graphic>
          <a:graphicData uri="http://schemas.openxmlformats.org/drawingml/2006/table">
            <a:tbl>
              <a:tblPr>
                <a:noFill/>
                <a:tableStyleId>{E8EDC2CA-3220-4743-9830-670A320CF52A}</a:tableStyleId>
              </a:tblPr>
              <a:tblGrid>
                <a:gridCol w="3780075">
                  <a:extLst>
                    <a:ext uri="{9D8B030D-6E8A-4147-A177-3AD203B41FA5}">
                      <a16:colId xmlns:a16="http://schemas.microsoft.com/office/drawing/2014/main" val="20000"/>
                    </a:ext>
                  </a:extLst>
                </a:gridCol>
                <a:gridCol w="3724475">
                  <a:extLst>
                    <a:ext uri="{9D8B030D-6E8A-4147-A177-3AD203B41FA5}">
                      <a16:colId xmlns:a16="http://schemas.microsoft.com/office/drawing/2014/main" val="20001"/>
                    </a:ext>
                  </a:extLst>
                </a:gridCol>
                <a:gridCol w="4224800">
                  <a:extLst>
                    <a:ext uri="{9D8B030D-6E8A-4147-A177-3AD203B41FA5}">
                      <a16:colId xmlns:a16="http://schemas.microsoft.com/office/drawing/2014/main" val="20002"/>
                    </a:ext>
                  </a:extLst>
                </a:gridCol>
              </a:tblGrid>
              <a:tr h="202400">
                <a:tc>
                  <a:txBody>
                    <a:bodyPr/>
                    <a:lstStyle/>
                    <a:p>
                      <a:pPr marL="0" marR="0" lvl="0" indent="0" algn="ctr" rtl="0">
                        <a:spcBef>
                          <a:spcPts val="0"/>
                        </a:spcBef>
                        <a:spcAft>
                          <a:spcPts val="0"/>
                        </a:spcAft>
                        <a:buClr>
                          <a:srgbClr val="262626"/>
                        </a:buClr>
                        <a:buSzPts val="1600"/>
                        <a:buFont typeface="Cambria"/>
                        <a:buNone/>
                      </a:pPr>
                      <a:r>
                        <a:rPr lang="en-IN" sz="1600" b="1" i="0" u="none" strike="noStrike" cap="none">
                          <a:solidFill>
                            <a:srgbClr val="262626"/>
                          </a:solidFill>
                          <a:latin typeface="Cambria"/>
                          <a:ea typeface="Cambria"/>
                          <a:cs typeface="Cambria"/>
                          <a:sym typeface="Cambria"/>
                        </a:rPr>
                        <a:t>Author(s), Year, Journal/Proceedings</a:t>
                      </a:r>
                      <a:endParaRPr/>
                    </a:p>
                  </a:txBody>
                  <a:tcPr marL="4400" marR="4400" marT="44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262626"/>
                        </a:buClr>
                        <a:buSzPts val="1600"/>
                        <a:buFont typeface="Cambria"/>
                        <a:buNone/>
                      </a:pPr>
                      <a:r>
                        <a:rPr lang="en-IN" sz="1600" b="1" i="0" u="none" strike="noStrike" cap="none">
                          <a:solidFill>
                            <a:srgbClr val="262626"/>
                          </a:solidFill>
                          <a:latin typeface="Cambria"/>
                          <a:ea typeface="Cambria"/>
                          <a:cs typeface="Cambria"/>
                          <a:sym typeface="Cambria"/>
                        </a:rPr>
                        <a:t>Title</a:t>
                      </a:r>
                      <a:endParaRPr/>
                    </a:p>
                  </a:txBody>
                  <a:tcPr marL="4400" marR="4400" marT="44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262626"/>
                        </a:buClr>
                        <a:buSzPts val="1600"/>
                        <a:buFont typeface="Cambria"/>
                        <a:buNone/>
                      </a:pPr>
                      <a:r>
                        <a:rPr lang="en-IN" sz="1600" b="1" i="0" u="none" strike="noStrike" cap="none">
                          <a:solidFill>
                            <a:srgbClr val="262626"/>
                          </a:solidFill>
                          <a:latin typeface="Cambria"/>
                          <a:ea typeface="Cambria"/>
                          <a:cs typeface="Cambria"/>
                          <a:sym typeface="Cambria"/>
                        </a:rPr>
                        <a:t>Key Findings</a:t>
                      </a:r>
                      <a:endParaRPr/>
                    </a:p>
                  </a:txBody>
                  <a:tcPr marL="4400" marR="4400" marT="44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86200">
                <a:tc>
                  <a:txBody>
                    <a:bodyPr/>
                    <a:lstStyle/>
                    <a:p>
                      <a:pPr marL="0" marR="0" lvl="0" indent="0" algn="l" rtl="0">
                        <a:spcBef>
                          <a:spcPts val="0"/>
                        </a:spcBef>
                        <a:spcAft>
                          <a:spcPts val="0"/>
                        </a:spcAft>
                        <a:buClr>
                          <a:schemeClr val="dk1"/>
                        </a:buClr>
                        <a:buSzPts val="1600"/>
                        <a:buFont typeface="Times New Roman"/>
                        <a:buNone/>
                      </a:pPr>
                      <a:r>
                        <a:rPr lang="en-IN" sz="1600" b="1" u="none" strike="noStrike" cap="none">
                          <a:latin typeface="Times New Roman"/>
                          <a:ea typeface="Times New Roman"/>
                          <a:cs typeface="Times New Roman"/>
                          <a:sym typeface="Times New Roman"/>
                        </a:rPr>
                        <a:t>P. Bhambri &amp; H. Sharma (2026)</a:t>
                      </a:r>
                      <a:r>
                        <a:rPr lang="en-IN" sz="1600" u="none" strike="noStrike" cap="none">
                          <a:latin typeface="Times New Roman"/>
                          <a:ea typeface="Times New Roman"/>
                          <a:cs typeface="Times New Roman"/>
                          <a:sym typeface="Times New Roman"/>
                        </a:rPr>
                        <a:t>, </a:t>
                      </a:r>
                      <a:r>
                        <a:rPr lang="en-IN" sz="1600" i="1" u="none" strike="noStrike" cap="none">
                          <a:latin typeface="Times New Roman"/>
                          <a:ea typeface="Times New Roman"/>
                          <a:cs typeface="Times New Roman"/>
                          <a:sym typeface="Times New Roman"/>
                        </a:rPr>
                        <a:t>Next-Gen Supply Chains (Wiley)</a:t>
                      </a:r>
                      <a:endParaRPr sz="1600" u="none" strike="noStrike" cap="none">
                        <a:latin typeface="Times New Roman"/>
                        <a:ea typeface="Times New Roman"/>
                        <a:cs typeface="Times New Roman"/>
                        <a:sym typeface="Times New Roman"/>
                      </a:endParaRPr>
                    </a:p>
                  </a:txBody>
                  <a:tcPr marL="91450" marR="91450" marT="457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Generative AI's Impact on Supply Chain Decision-Making</a:t>
                      </a:r>
                      <a:endParaRPr sz="1600" b="0" i="0" u="none" strike="noStrike" cap="none">
                        <a:solidFill>
                          <a:srgbClr val="262626"/>
                        </a:solidFill>
                        <a:latin typeface="Times New Roman"/>
                        <a:ea typeface="Times New Roman"/>
                        <a:cs typeface="Times New Roman"/>
                        <a:sym typeface="Times New Roman"/>
                      </a:endParaRPr>
                    </a:p>
                  </a:txBody>
                  <a:tcPr marL="4400" marR="4400" marT="44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Demonstrated that Generative AI enhances supply chain decision-making through scenario generation, predictive analytics, and digital twin integration.</a:t>
                      </a:r>
                      <a:endParaRPr sz="1600" b="0" i="0" u="none" strike="noStrike" cap="none">
                        <a:solidFill>
                          <a:srgbClr val="262626"/>
                        </a:solidFill>
                        <a:latin typeface="Times New Roman"/>
                        <a:ea typeface="Times New Roman"/>
                        <a:cs typeface="Times New Roman"/>
                        <a:sym typeface="Times New Roman"/>
                      </a:endParaRPr>
                    </a:p>
                  </a:txBody>
                  <a:tcPr marL="4400" marR="4400" marT="44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708350">
                <a:tc>
                  <a:txBody>
                    <a:bodyPr/>
                    <a:lstStyle/>
                    <a:p>
                      <a:pPr marL="0" marR="0" lvl="0" indent="0" algn="l" rtl="0">
                        <a:spcBef>
                          <a:spcPts val="0"/>
                        </a:spcBef>
                        <a:spcAft>
                          <a:spcPts val="0"/>
                        </a:spcAft>
                        <a:buClr>
                          <a:schemeClr val="dk1"/>
                        </a:buClr>
                        <a:buSzPts val="1600"/>
                        <a:buFont typeface="Times New Roman"/>
                        <a:buNone/>
                      </a:pPr>
                      <a:r>
                        <a:rPr lang="en-IN" sz="1600" b="1" u="none" strike="noStrike" cap="none">
                          <a:latin typeface="Times New Roman"/>
                          <a:ea typeface="Times New Roman"/>
                          <a:cs typeface="Times New Roman"/>
                          <a:sym typeface="Times New Roman"/>
                        </a:rPr>
                        <a:t>Latifa Benhamou, Vincent Giard &amp; Samir Lamouri (2026)</a:t>
                      </a:r>
                      <a:r>
                        <a:rPr lang="en-IN" sz="1600" u="none" strike="noStrike" cap="none">
                          <a:latin typeface="Times New Roman"/>
                          <a:ea typeface="Times New Roman"/>
                          <a:cs typeface="Times New Roman"/>
                          <a:sym typeface="Times New Roman"/>
                        </a:rPr>
                        <a:t>, </a:t>
                      </a:r>
                      <a:r>
                        <a:rPr lang="en-IN" sz="1600" i="1" u="none" strike="noStrike" cap="none">
                          <a:latin typeface="Times New Roman"/>
                          <a:ea typeface="Times New Roman"/>
                          <a:cs typeface="Times New Roman"/>
                          <a:sym typeface="Times New Roman"/>
                        </a:rPr>
                        <a:t>International Journal of Production Economics</a:t>
                      </a:r>
                      <a:endParaRPr sz="1600" b="0" i="0" u="none" strike="noStrike" cap="none">
                        <a:solidFill>
                          <a:srgbClr val="262626"/>
                        </a:solidFill>
                        <a:latin typeface="Times New Roman"/>
                        <a:ea typeface="Times New Roman"/>
                        <a:cs typeface="Times New Roman"/>
                        <a:sym typeface="Times New Roman"/>
                      </a:endParaRPr>
                    </a:p>
                  </a:txBody>
                  <a:tcPr marL="4400" marR="4400" marT="44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Digital Twins in Supply Chain Management: Scope and Methodological Issues</a:t>
                      </a:r>
                      <a:endParaRPr sz="1600" b="0" i="0" u="none" strike="noStrike" cap="none">
                        <a:solidFill>
                          <a:srgbClr val="262626"/>
                        </a:solidFill>
                        <a:latin typeface="Times New Roman"/>
                        <a:ea typeface="Times New Roman"/>
                        <a:cs typeface="Times New Roman"/>
                        <a:sym typeface="Times New Roman"/>
                      </a:endParaRPr>
                    </a:p>
                  </a:txBody>
                  <a:tcPr marL="4400" marR="4400" marT="44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Highlighted the role of Digital Twins in real-time monitoring, disruption prediction, and adaptive supply chain management while identifying current implementation challenges.</a:t>
                      </a:r>
                      <a:endParaRPr sz="1600" b="0" i="0" u="none" strike="noStrike" cap="none">
                        <a:solidFill>
                          <a:srgbClr val="262626"/>
                        </a:solidFill>
                        <a:latin typeface="Times New Roman"/>
                        <a:ea typeface="Times New Roman"/>
                        <a:cs typeface="Times New Roman"/>
                        <a:sym typeface="Times New Roman"/>
                      </a:endParaRPr>
                    </a:p>
                  </a:txBody>
                  <a:tcPr marL="4400" marR="4400" marT="44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607175">
                <a:tc>
                  <a:txBody>
                    <a:bodyPr/>
                    <a:lstStyle/>
                    <a:p>
                      <a:pPr marL="0" marR="0" lvl="0" indent="0" algn="l" rtl="0">
                        <a:spcBef>
                          <a:spcPts val="0"/>
                        </a:spcBef>
                        <a:spcAft>
                          <a:spcPts val="0"/>
                        </a:spcAft>
                        <a:buClr>
                          <a:schemeClr val="dk1"/>
                        </a:buClr>
                        <a:buSzPts val="1600"/>
                        <a:buFont typeface="Times New Roman"/>
                        <a:buNone/>
                      </a:pPr>
                      <a:r>
                        <a:rPr lang="en-IN" sz="1600" b="1" u="none" strike="noStrike" cap="none">
                          <a:latin typeface="Times New Roman"/>
                          <a:ea typeface="Times New Roman"/>
                          <a:cs typeface="Times New Roman"/>
                          <a:sym typeface="Times New Roman"/>
                        </a:rPr>
                        <a:t>Dmitry Ivanov (2026)</a:t>
                      </a:r>
                      <a:r>
                        <a:rPr lang="en-IN" sz="1600" u="none" strike="noStrike" cap="none">
                          <a:latin typeface="Times New Roman"/>
                          <a:ea typeface="Times New Roman"/>
                          <a:cs typeface="Times New Roman"/>
                          <a:sym typeface="Times New Roman"/>
                        </a:rPr>
                        <a:t>, </a:t>
                      </a:r>
                      <a:r>
                        <a:rPr lang="en-IN" sz="1600" i="1" u="none" strike="noStrike" cap="none">
                          <a:latin typeface="Times New Roman"/>
                          <a:ea typeface="Times New Roman"/>
                          <a:cs typeface="Times New Roman"/>
                          <a:sym typeface="Times New Roman"/>
                        </a:rPr>
                        <a:t>International Journal of Production Research</a:t>
                      </a:r>
                      <a:endParaRPr sz="1600" b="0" i="0" u="none" strike="noStrike" cap="none">
                        <a:solidFill>
                          <a:srgbClr val="262626"/>
                        </a:solidFill>
                        <a:latin typeface="Times New Roman"/>
                        <a:ea typeface="Times New Roman"/>
                        <a:cs typeface="Times New Roman"/>
                        <a:sym typeface="Times New Roman"/>
                      </a:endParaRPr>
                    </a:p>
                  </a:txBody>
                  <a:tcPr marL="4400" marR="4400" marT="44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Agentic Digital Twins: Bridging Model-Based and AI-Driven Decision-Making Support</a:t>
                      </a:r>
                      <a:endParaRPr sz="1600" b="0" i="0" u="none" strike="noStrike" cap="none">
                        <a:solidFill>
                          <a:srgbClr val="262626"/>
                        </a:solidFill>
                        <a:latin typeface="Times New Roman"/>
                        <a:ea typeface="Times New Roman"/>
                        <a:cs typeface="Times New Roman"/>
                        <a:sym typeface="Times New Roman"/>
                      </a:endParaRPr>
                    </a:p>
                  </a:txBody>
                  <a:tcPr marL="4400" marR="4400" marT="44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Proposed AI-powered digital twins that combine simulation with intelligent decision support for resilient and autonomous supply chain operations.</a:t>
                      </a:r>
                      <a:endParaRPr sz="1600" b="0" i="0" u="none" strike="noStrike" cap="none">
                        <a:solidFill>
                          <a:srgbClr val="262626"/>
                        </a:solidFill>
                        <a:latin typeface="Times New Roman"/>
                        <a:ea typeface="Times New Roman"/>
                        <a:cs typeface="Times New Roman"/>
                        <a:sym typeface="Times New Roman"/>
                      </a:endParaRPr>
                    </a:p>
                  </a:txBody>
                  <a:tcPr marL="4400" marR="4400" marT="44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07175">
                <a:tc>
                  <a:txBody>
                    <a:bodyPr/>
                    <a:lstStyle/>
                    <a:p>
                      <a:pPr marL="0" marR="0" lvl="0" indent="0" algn="l" rtl="0">
                        <a:spcBef>
                          <a:spcPts val="0"/>
                        </a:spcBef>
                        <a:spcAft>
                          <a:spcPts val="0"/>
                        </a:spcAft>
                        <a:buClr>
                          <a:schemeClr val="dk1"/>
                        </a:buClr>
                        <a:buSzPts val="1600"/>
                        <a:buFont typeface="Times New Roman"/>
                        <a:buNone/>
                      </a:pPr>
                      <a:r>
                        <a:rPr lang="en-IN" sz="1600" b="1" u="none" strike="noStrike" cap="none">
                          <a:latin typeface="Times New Roman"/>
                          <a:ea typeface="Times New Roman"/>
                          <a:cs typeface="Times New Roman"/>
                          <a:sym typeface="Times New Roman"/>
                        </a:rPr>
                        <a:t>Tho V. Le &amp; Ruoling Fan (2023)</a:t>
                      </a:r>
                      <a:r>
                        <a:rPr lang="en-IN" sz="1600" u="none" strike="noStrike" cap="none">
                          <a:latin typeface="Times New Roman"/>
                          <a:ea typeface="Times New Roman"/>
                          <a:cs typeface="Times New Roman"/>
                          <a:sym typeface="Times New Roman"/>
                        </a:rPr>
                        <a:t>, </a:t>
                      </a:r>
                      <a:r>
                        <a:rPr lang="en-IN" sz="1600" i="1" u="none" strike="noStrike" cap="none">
                          <a:latin typeface="Times New Roman"/>
                          <a:ea typeface="Times New Roman"/>
                          <a:cs typeface="Times New Roman"/>
                          <a:sym typeface="Times New Roman"/>
                        </a:rPr>
                        <a:t>arXiv</a:t>
                      </a:r>
                      <a:endParaRPr sz="1600" b="0" i="0" u="none" strike="noStrike" cap="none">
                        <a:solidFill>
                          <a:srgbClr val="262626"/>
                        </a:solidFill>
                        <a:latin typeface="Times New Roman"/>
                        <a:ea typeface="Times New Roman"/>
                        <a:cs typeface="Times New Roman"/>
                        <a:sym typeface="Times New Roman"/>
                      </a:endParaRPr>
                    </a:p>
                  </a:txBody>
                  <a:tcPr marL="4400" marR="4400" marT="44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Digital Twins for Logistics and Supply Chain Systems: Literature Review, Conceptual Framework, Research Potential, and Practical Challenges</a:t>
                      </a:r>
                      <a:endParaRPr sz="1600" b="0" i="0" u="none" strike="noStrike" cap="none">
                        <a:solidFill>
                          <a:srgbClr val="262626"/>
                        </a:solidFill>
                        <a:latin typeface="Times New Roman"/>
                        <a:ea typeface="Times New Roman"/>
                        <a:cs typeface="Times New Roman"/>
                        <a:sym typeface="Times New Roman"/>
                      </a:endParaRPr>
                    </a:p>
                  </a:txBody>
                  <a:tcPr marL="4400" marR="4400" marT="44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Presented a comprehensive framework for applying digital twins in logistics, emphasizing improved visibility, resilience, and operational efficiency..</a:t>
                      </a:r>
                      <a:endParaRPr sz="1600" b="0" i="0" u="none" strike="noStrike" cap="none">
                        <a:solidFill>
                          <a:srgbClr val="262626"/>
                        </a:solidFill>
                        <a:latin typeface="Times New Roman"/>
                        <a:ea typeface="Times New Roman"/>
                        <a:cs typeface="Times New Roman"/>
                        <a:sym typeface="Times New Roman"/>
                      </a:endParaRPr>
                    </a:p>
                  </a:txBody>
                  <a:tcPr marL="4400" marR="4400" marT="44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708350">
                <a:tc>
                  <a:txBody>
                    <a:bodyPr/>
                    <a:lstStyle/>
                    <a:p>
                      <a:pPr marL="0" marR="0" lvl="0" indent="0" algn="l" rtl="0">
                        <a:spcBef>
                          <a:spcPts val="0"/>
                        </a:spcBef>
                        <a:spcAft>
                          <a:spcPts val="0"/>
                        </a:spcAft>
                        <a:buClr>
                          <a:schemeClr val="dk1"/>
                        </a:buClr>
                        <a:buSzPts val="1600"/>
                        <a:buFont typeface="Times New Roman"/>
                        <a:buNone/>
                      </a:pPr>
                      <a:r>
                        <a:rPr lang="en-IN" sz="1600" b="1" u="none" strike="noStrike" cap="none">
                          <a:latin typeface="Times New Roman"/>
                          <a:ea typeface="Times New Roman"/>
                          <a:cs typeface="Times New Roman"/>
                          <a:sym typeface="Times New Roman"/>
                        </a:rPr>
                        <a:t>Keqi Wang et al. (2020)</a:t>
                      </a:r>
                      <a:r>
                        <a:rPr lang="en-IN" sz="1600" u="none" strike="noStrike" cap="none">
                          <a:latin typeface="Times New Roman"/>
                          <a:ea typeface="Times New Roman"/>
                          <a:cs typeface="Times New Roman"/>
                          <a:sym typeface="Times New Roman"/>
                        </a:rPr>
                        <a:t>, </a:t>
                      </a:r>
                      <a:r>
                        <a:rPr lang="en-IN" sz="1600" i="1" u="none" strike="noStrike" cap="none">
                          <a:latin typeface="Times New Roman"/>
                          <a:ea typeface="Times New Roman"/>
                          <a:cs typeface="Times New Roman"/>
                          <a:sym typeface="Times New Roman"/>
                        </a:rPr>
                        <a:t>arXiv</a:t>
                      </a:r>
                      <a:endParaRPr sz="1600" b="0" i="0" u="none" strike="noStrike" cap="none">
                        <a:solidFill>
                          <a:srgbClr val="262626"/>
                        </a:solidFill>
                        <a:latin typeface="Times New Roman"/>
                        <a:ea typeface="Times New Roman"/>
                        <a:cs typeface="Times New Roman"/>
                        <a:sym typeface="Times New Roman"/>
                      </a:endParaRPr>
                    </a:p>
                  </a:txBody>
                  <a:tcPr marL="4400" marR="4400" marT="44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Simulation-Based Digital Twin Development for Blockchain Enabled End-to-End Industrial Hemp Supply Chain Risk Management</a:t>
                      </a:r>
                      <a:endParaRPr sz="1600" b="0" i="0" u="none" strike="noStrike" cap="none">
                        <a:solidFill>
                          <a:srgbClr val="262626"/>
                        </a:solidFill>
                        <a:latin typeface="Times New Roman"/>
                        <a:ea typeface="Times New Roman"/>
                        <a:cs typeface="Times New Roman"/>
                        <a:sym typeface="Times New Roman"/>
                      </a:endParaRPr>
                    </a:p>
                  </a:txBody>
                  <a:tcPr marL="4400" marR="4400" marT="44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Developed a simulation-based digital twin integrated with blockchain to improve supply chain transparency, risk management, and decision-making. </a:t>
                      </a:r>
                      <a:endParaRPr sz="1600" b="0" i="0" u="none" strike="noStrike" cap="none">
                        <a:solidFill>
                          <a:srgbClr val="262626"/>
                        </a:solidFill>
                        <a:latin typeface="Times New Roman"/>
                        <a:ea typeface="Times New Roman"/>
                        <a:cs typeface="Times New Roman"/>
                        <a:sym typeface="Times New Roman"/>
                      </a:endParaRPr>
                    </a:p>
                  </a:txBody>
                  <a:tcPr marL="4400" marR="4400" marT="44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07" name="Google Shape;107;p16"/>
          <p:cNvSpPr txBox="1"/>
          <p:nvPr/>
        </p:nvSpPr>
        <p:spPr>
          <a:xfrm>
            <a:off x="4283527" y="150900"/>
            <a:ext cx="362494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cap="small">
                <a:solidFill>
                  <a:srgbClr val="2F5496"/>
                </a:solidFill>
                <a:latin typeface="Cambria"/>
                <a:ea typeface="Cambria"/>
                <a:cs typeface="Cambria"/>
                <a:sym typeface="Cambria"/>
              </a:rPr>
              <a:t>Literature Survey</a:t>
            </a:r>
            <a:endParaRPr sz="3200" b="1" cap="small">
              <a:solidFill>
                <a:srgbClr val="2F5496"/>
              </a:solidFill>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7"/>
          <p:cNvSpPr txBox="1"/>
          <p:nvPr/>
        </p:nvSpPr>
        <p:spPr>
          <a:xfrm>
            <a:off x="4422502" y="456141"/>
            <a:ext cx="3346995"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cap="small">
                <a:solidFill>
                  <a:srgbClr val="2F5496"/>
                </a:solidFill>
                <a:latin typeface="Cambria"/>
                <a:ea typeface="Cambria"/>
                <a:cs typeface="Cambria"/>
                <a:sym typeface="Cambria"/>
              </a:rPr>
              <a:t>Research Gaps</a:t>
            </a:r>
            <a:endParaRPr sz="3200" b="1" cap="small">
              <a:solidFill>
                <a:srgbClr val="2F5496"/>
              </a:solidFill>
              <a:latin typeface="Cambria"/>
              <a:ea typeface="Cambria"/>
              <a:cs typeface="Cambria"/>
              <a:sym typeface="Cambria"/>
            </a:endParaRPr>
          </a:p>
        </p:txBody>
      </p:sp>
      <p:sp>
        <p:nvSpPr>
          <p:cNvPr id="113" name="Google Shape;113;p17"/>
          <p:cNvSpPr txBox="1"/>
          <p:nvPr/>
        </p:nvSpPr>
        <p:spPr>
          <a:xfrm>
            <a:off x="741317" y="2011739"/>
            <a:ext cx="10942683" cy="3366563"/>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Existing studies provide limited integration of Generative AI with Digital Twin models for intelligent disruption simulation.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Most Digital Twin systems focus on monitoring and simulation rather than automated resilience planning and decision support.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Current research lacks simulation of multiple simultaneous supply chain disruptions and their combined impact.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Many proposed frameworks remain conceptual with limited validation in practical supply chain environments.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Existing approaches provide limited optimization of recovery strategies, including alternative suppliers, routes, and inventory planning.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p:nvPr/>
        </p:nvSpPr>
        <p:spPr>
          <a:xfrm>
            <a:off x="4178662" y="374861"/>
            <a:ext cx="3834675"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cap="small">
                <a:solidFill>
                  <a:srgbClr val="2F5496"/>
                </a:solidFill>
                <a:latin typeface="Cambria"/>
                <a:ea typeface="Cambria"/>
                <a:cs typeface="Cambria"/>
                <a:sym typeface="Cambria"/>
              </a:rPr>
              <a:t>Problem Statement</a:t>
            </a:r>
            <a:endParaRPr sz="3200" b="1" cap="small">
              <a:solidFill>
                <a:srgbClr val="2F5496"/>
              </a:solidFill>
              <a:latin typeface="Cambria"/>
              <a:ea typeface="Cambria"/>
              <a:cs typeface="Cambria"/>
              <a:sym typeface="Cambria"/>
            </a:endParaRPr>
          </a:p>
        </p:txBody>
      </p:sp>
      <p:sp>
        <p:nvSpPr>
          <p:cNvPr id="119" name="Google Shape;119;p18"/>
          <p:cNvSpPr txBox="1"/>
          <p:nvPr/>
        </p:nvSpPr>
        <p:spPr>
          <a:xfrm>
            <a:off x="1219982" y="2046519"/>
            <a:ext cx="9875520" cy="2951064"/>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Existing Digital Twin solutions primarily focus on monitoring and visualization but provide limited support for AI-driven disruption prediction and recovery planning.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Most current studies simulate individual supply chain disruptions, while real-world scenarios often involve multiple simultaneous disruptions that significantly affect resilience.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There is a need for an integrated framework that combines Generative AI with Digital Twin technology to generate realistic disruption scenarios, evaluate their impact, and recommend optimal resilience strategies for effective decision-making.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9"/>
          <p:cNvSpPr txBox="1"/>
          <p:nvPr/>
        </p:nvSpPr>
        <p:spPr>
          <a:xfrm>
            <a:off x="4659085" y="283421"/>
            <a:ext cx="287382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cap="small">
                <a:solidFill>
                  <a:srgbClr val="2F5496"/>
                </a:solidFill>
                <a:latin typeface="Cambria"/>
                <a:ea typeface="Cambria"/>
                <a:cs typeface="Cambria"/>
                <a:sym typeface="Cambria"/>
              </a:rPr>
              <a:t>Objectives</a:t>
            </a:r>
            <a:endParaRPr sz="3200" b="1" cap="small">
              <a:solidFill>
                <a:srgbClr val="2F5496"/>
              </a:solidFill>
              <a:latin typeface="Cambria"/>
              <a:ea typeface="Cambria"/>
              <a:cs typeface="Cambria"/>
              <a:sym typeface="Cambria"/>
            </a:endParaRPr>
          </a:p>
        </p:txBody>
      </p:sp>
      <p:sp>
        <p:nvSpPr>
          <p:cNvPr id="125" name="Google Shape;125;p19"/>
          <p:cNvSpPr txBox="1"/>
          <p:nvPr/>
        </p:nvSpPr>
        <p:spPr>
          <a:xfrm>
            <a:off x="1082040" y="1997839"/>
            <a:ext cx="10403840" cy="3366563"/>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To develop a Digital Twin model that accurately represents the supply chain network and its operational components.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To utilize Generative AI for creating realistic supply chain disruption scenarios and simulating their potential impacts.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To analyze disruption effects on inventory, transportation, cost, and delivery performance for effective risk assessment.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To recommend optimal resilience strategies, including alternative suppliers, routes, and inventory plans, to improve business continuity and decision-making.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0"/>
          <p:cNvSpPr/>
          <p:nvPr/>
        </p:nvSpPr>
        <p:spPr>
          <a:xfrm>
            <a:off x="447150" y="1704941"/>
            <a:ext cx="7053944" cy="3782061"/>
          </a:xfrm>
          <a:prstGeom prst="rect">
            <a:avLst/>
          </a:prstGeom>
          <a:noFill/>
          <a:ln>
            <a:noFill/>
          </a:ln>
        </p:spPr>
        <p:txBody>
          <a:bodyPr spcFirstLastPara="1" wrap="square" lIns="91425" tIns="45700" rIns="91425" bIns="45700" anchor="ctr" anchorCtr="0">
            <a:noAutofit/>
          </a:bodyPr>
          <a:lstStyle/>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Collect supply chain data such as suppliers, warehouses, inventory, routes, and customer demand.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Clean and organize the data before using it in the system.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Create a virtual model (Digital Twin) of the supply chain.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Use Generative AI to create different supply chain disruption scenarios.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Analyze how these disruptions affect cost, inventory, and delivery.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Suggest the best recovery plans, such as alternative suppliers and routes.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Display the results using dashboards, charts, and reports.</a:t>
            </a:r>
            <a:endParaRPr/>
          </a:p>
        </p:txBody>
      </p:sp>
      <p:sp>
        <p:nvSpPr>
          <p:cNvPr id="131" name="Google Shape;131;p20"/>
          <p:cNvSpPr txBox="1"/>
          <p:nvPr/>
        </p:nvSpPr>
        <p:spPr>
          <a:xfrm>
            <a:off x="3298373" y="152400"/>
            <a:ext cx="3755571"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b="1" u="none" strike="noStrike" cap="small">
                <a:solidFill>
                  <a:srgbClr val="1F3864"/>
                </a:solidFill>
                <a:latin typeface="Cambria"/>
                <a:ea typeface="Cambria"/>
                <a:cs typeface="Cambria"/>
                <a:sym typeface="Cambria"/>
              </a:rPr>
              <a:t>Methodology</a:t>
            </a:r>
            <a:endParaRPr sz="3200" b="1" u="none" strike="noStrike" cap="small">
              <a:solidFill>
                <a:srgbClr val="1F3864"/>
              </a:solidFill>
              <a:latin typeface="Cambria"/>
              <a:ea typeface="Cambria"/>
              <a:cs typeface="Cambria"/>
              <a:sym typeface="Cambria"/>
            </a:endParaRPr>
          </a:p>
        </p:txBody>
      </p:sp>
      <p:pic>
        <p:nvPicPr>
          <p:cNvPr id="132" name="Google Shape;132;p20"/>
          <p:cNvPicPr preferRelativeResize="0"/>
          <p:nvPr/>
        </p:nvPicPr>
        <p:blipFill rotWithShape="1">
          <a:blip r:embed="rId3">
            <a:alphaModFix/>
          </a:blip>
          <a:srcRect/>
          <a:stretch/>
        </p:blipFill>
        <p:spPr>
          <a:xfrm>
            <a:off x="7420708" y="0"/>
            <a:ext cx="4572000" cy="6858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1"/>
          <p:cNvSpPr txBox="1"/>
          <p:nvPr/>
        </p:nvSpPr>
        <p:spPr>
          <a:xfrm>
            <a:off x="1430213" y="463754"/>
            <a:ext cx="9355017"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b="1" cap="small">
                <a:solidFill>
                  <a:srgbClr val="1F3864"/>
                </a:solidFill>
                <a:latin typeface="Cambria"/>
                <a:ea typeface="Cambria"/>
                <a:cs typeface="Cambria"/>
                <a:sym typeface="Cambria"/>
              </a:rPr>
              <a:t>Module-1: Supply Chain Digital Twin Development</a:t>
            </a:r>
            <a:endParaRPr sz="3200" b="1" u="none" strike="noStrike" cap="small">
              <a:solidFill>
                <a:srgbClr val="1F3864"/>
              </a:solidFill>
              <a:latin typeface="Cambria"/>
              <a:ea typeface="Cambria"/>
              <a:cs typeface="Cambria"/>
              <a:sym typeface="Cambria"/>
            </a:endParaRPr>
          </a:p>
        </p:txBody>
      </p:sp>
      <p:sp>
        <p:nvSpPr>
          <p:cNvPr id="138" name="Google Shape;138;p21"/>
          <p:cNvSpPr txBox="1"/>
          <p:nvPr/>
        </p:nvSpPr>
        <p:spPr>
          <a:xfrm>
            <a:off x="1172307" y="1953468"/>
            <a:ext cx="10316308" cy="2951064"/>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Collect supply chain data such as suppliers, warehouses, inventory, transportation routes, and customer demand. </a:t>
            </a:r>
            <a:endParaRPr/>
          </a:p>
          <a:p>
            <a:pPr marL="342900" marR="0" lvl="0" indent="-342900" algn="just"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Clean and organize the collected data to ensure accuracy and consistency. </a:t>
            </a:r>
            <a:endParaRPr/>
          </a:p>
          <a:p>
            <a:pPr marL="342900" marR="0" lvl="0" indent="-342900" algn="just"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Create a virtual Digital Twin that represents the real-world supply chain network. </a:t>
            </a:r>
            <a:endParaRPr/>
          </a:p>
          <a:p>
            <a:pPr marL="342900" marR="0" lvl="0" indent="-342900" algn="just"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Connect all supply chain components to visualize the flow of products and information. </a:t>
            </a:r>
            <a:endParaRPr/>
          </a:p>
          <a:p>
            <a:pPr marL="342900" marR="0" lvl="0" indent="-342900" algn="just"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Monitor the current status of inventory, transportation, and warehouse operations within the Digital Twin. </a:t>
            </a:r>
            <a:endParaRPr/>
          </a:p>
          <a:p>
            <a:pPr marL="342900" marR="0" lvl="0" indent="-342900" algn="just"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Prepare the Digital Twin model for disruption simulation in the next module.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2"/>
          <p:cNvSpPr txBox="1"/>
          <p:nvPr/>
        </p:nvSpPr>
        <p:spPr>
          <a:xfrm>
            <a:off x="926125" y="416823"/>
            <a:ext cx="10503878"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b="1" cap="small">
                <a:solidFill>
                  <a:srgbClr val="1F3864"/>
                </a:solidFill>
                <a:latin typeface="Cambria"/>
                <a:ea typeface="Cambria"/>
                <a:cs typeface="Cambria"/>
                <a:sym typeface="Cambria"/>
              </a:rPr>
              <a:t>Module-2: Generative AI – Based Disruption Simulation </a:t>
            </a:r>
            <a:endParaRPr sz="3200" b="1" u="none" strike="noStrike" cap="small">
              <a:solidFill>
                <a:srgbClr val="1F3864"/>
              </a:solidFill>
              <a:latin typeface="Cambria"/>
              <a:ea typeface="Cambria"/>
              <a:cs typeface="Cambria"/>
              <a:sym typeface="Cambria"/>
            </a:endParaRPr>
          </a:p>
        </p:txBody>
      </p:sp>
      <p:sp>
        <p:nvSpPr>
          <p:cNvPr id="144" name="Google Shape;144;p22"/>
          <p:cNvSpPr txBox="1"/>
          <p:nvPr/>
        </p:nvSpPr>
        <p:spPr>
          <a:xfrm>
            <a:off x="1207476" y="1732563"/>
            <a:ext cx="8135816" cy="2951064"/>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Generate realistic supply chain disruption scenarios using Generative AI. </a:t>
            </a:r>
            <a:endParaRPr/>
          </a:p>
          <a:p>
            <a:pPr marL="342900" marR="0" lvl="0" indent="-342900" algn="just"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Simulate events such as supplier failures, transportation delays, and demand fluctuations. </a:t>
            </a:r>
            <a:endParaRPr/>
          </a:p>
          <a:p>
            <a:pPr marL="342900" marR="0" lvl="0" indent="-342900" algn="just"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Analyze how each disruption affects different parts of the supply chain. </a:t>
            </a:r>
            <a:endParaRPr/>
          </a:p>
          <a:p>
            <a:pPr marL="342900" marR="0" lvl="0" indent="-342900" algn="just"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Estimate the impact on inventory, delivery time, and operational cost. </a:t>
            </a:r>
            <a:endParaRPr/>
          </a:p>
          <a:p>
            <a:pPr marL="342900" marR="0" lvl="0" indent="-342900" algn="just"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Identify critical risks and assign a risk score to each disruption. </a:t>
            </a:r>
            <a:endParaRPr/>
          </a:p>
          <a:p>
            <a:pPr marL="342900" marR="0" lvl="0" indent="-342900" algn="just"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Pass the simulation results to the resilience planning module.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3"/>
          <p:cNvSpPr txBox="1"/>
          <p:nvPr/>
        </p:nvSpPr>
        <p:spPr>
          <a:xfrm>
            <a:off x="779584" y="440269"/>
            <a:ext cx="1060938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b="1" cap="small">
                <a:solidFill>
                  <a:srgbClr val="1F3864"/>
                </a:solidFill>
                <a:latin typeface="Cambria"/>
                <a:ea typeface="Cambria"/>
                <a:cs typeface="Cambria"/>
                <a:sym typeface="Cambria"/>
              </a:rPr>
              <a:t>Module-3: Resilience Planning and Decision Support </a:t>
            </a:r>
            <a:endParaRPr sz="3200" b="1" u="none" strike="noStrike" cap="small">
              <a:solidFill>
                <a:srgbClr val="1F3864"/>
              </a:solidFill>
              <a:latin typeface="Cambria"/>
              <a:ea typeface="Cambria"/>
              <a:cs typeface="Cambria"/>
              <a:sym typeface="Cambria"/>
            </a:endParaRPr>
          </a:p>
        </p:txBody>
      </p:sp>
      <p:sp>
        <p:nvSpPr>
          <p:cNvPr id="150" name="Google Shape;150;p23"/>
          <p:cNvSpPr txBox="1"/>
          <p:nvPr/>
        </p:nvSpPr>
        <p:spPr>
          <a:xfrm>
            <a:off x="1312984" y="1987048"/>
            <a:ext cx="7913078" cy="2535566"/>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Analyze the disruption results to identify the best recovery options. </a:t>
            </a:r>
            <a:endParaRPr/>
          </a:p>
          <a:p>
            <a:pPr marL="342900" marR="0" lvl="0" indent="-34290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Recommend alternative suppliers, transportation routes, and inventory plans. </a:t>
            </a:r>
            <a:endParaRPr/>
          </a:p>
          <a:p>
            <a:pPr marL="342900" marR="0" lvl="0" indent="-34290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Optimize recovery strategies to reduce delays and operational costs. </a:t>
            </a:r>
            <a:endParaRPr/>
          </a:p>
          <a:p>
            <a:pPr marL="342900" marR="0" lvl="0" indent="-34290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Estimate the recovery time and overall supply chain resilience. </a:t>
            </a:r>
            <a:endParaRPr/>
          </a:p>
          <a:p>
            <a:pPr marL="342900" marR="0" lvl="0" indent="-34290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Display recommendations through interactive dashboards and reports. </a:t>
            </a:r>
            <a:endParaRPr/>
          </a:p>
          <a:p>
            <a:pPr marL="342900" marR="0" lvl="0" indent="-342900" algn="l" rtl="0">
              <a:lnSpc>
                <a:spcPct val="150000"/>
              </a:lnSpc>
              <a:spcBef>
                <a:spcPts val="0"/>
              </a:spcBef>
              <a:spcAft>
                <a:spcPts val="0"/>
              </a:spcAft>
              <a:buClr>
                <a:schemeClr val="dk1"/>
              </a:buClr>
              <a:buSzPts val="1800"/>
              <a:buFont typeface="Noto Sans Symbols"/>
              <a:buChar char="⮚"/>
            </a:pPr>
            <a:r>
              <a:rPr lang="en-IN" sz="1800">
                <a:solidFill>
                  <a:schemeClr val="dk1"/>
                </a:solidFill>
                <a:latin typeface="Times New Roman"/>
                <a:ea typeface="Times New Roman"/>
                <a:cs typeface="Times New Roman"/>
                <a:sym typeface="Times New Roman"/>
              </a:rPr>
              <a:t>Support decision-makers in maintaining business continuity during disruptions.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graphicFrame>
        <p:nvGraphicFramePr>
          <p:cNvPr id="155" name="Google Shape;155;p24"/>
          <p:cNvGraphicFramePr/>
          <p:nvPr/>
        </p:nvGraphicFramePr>
        <p:xfrm>
          <a:off x="1746729" y="2450124"/>
          <a:ext cx="8858725" cy="2489215"/>
        </p:xfrm>
        <a:graphic>
          <a:graphicData uri="http://schemas.openxmlformats.org/drawingml/2006/table">
            <a:tbl>
              <a:tblPr firstRow="1" bandRow="1">
                <a:noFill/>
                <a:tableStyleId>{87E95693-1380-485A-A3F9-348DDAD55970}</a:tableStyleId>
              </a:tblPr>
              <a:tblGrid>
                <a:gridCol w="3279425">
                  <a:extLst>
                    <a:ext uri="{9D8B030D-6E8A-4147-A177-3AD203B41FA5}">
                      <a16:colId xmlns:a16="http://schemas.microsoft.com/office/drawing/2014/main" val="20000"/>
                    </a:ext>
                  </a:extLst>
                </a:gridCol>
                <a:gridCol w="5579300">
                  <a:extLst>
                    <a:ext uri="{9D8B030D-6E8A-4147-A177-3AD203B41FA5}">
                      <a16:colId xmlns:a16="http://schemas.microsoft.com/office/drawing/2014/main" val="20001"/>
                    </a:ext>
                  </a:extLst>
                </a:gridCol>
              </a:tblGrid>
              <a:tr h="168800">
                <a:tc>
                  <a:txBody>
                    <a:bodyPr/>
                    <a:lstStyle/>
                    <a:p>
                      <a:pPr marL="0" marR="0" lvl="0" indent="0" algn="ctr" rtl="0">
                        <a:spcBef>
                          <a:spcPts val="0"/>
                        </a:spcBef>
                        <a:spcAft>
                          <a:spcPts val="0"/>
                        </a:spcAft>
                        <a:buNone/>
                      </a:pPr>
                      <a:endParaRPr sz="1800" u="none" strike="noStrike" cap="none">
                        <a:latin typeface="Times New Roman"/>
                        <a:ea typeface="Times New Roman"/>
                        <a:cs typeface="Times New Roman"/>
                        <a:sym typeface="Times New Roman"/>
                      </a:endParaRPr>
                    </a:p>
                    <a:p>
                      <a:pPr marL="0" marR="0" lvl="0" indent="0" algn="ctr" rtl="0">
                        <a:spcBef>
                          <a:spcPts val="0"/>
                        </a:spcBef>
                        <a:spcAft>
                          <a:spcPts val="0"/>
                        </a:spcAft>
                        <a:buNone/>
                      </a:pPr>
                      <a:r>
                        <a:rPr lang="en-IN" sz="1800" u="none" strike="noStrike" cap="none">
                          <a:latin typeface="Times New Roman"/>
                          <a:ea typeface="Times New Roman"/>
                          <a:cs typeface="Times New Roman"/>
                          <a:sym typeface="Times New Roman"/>
                        </a:rPr>
                        <a:t>Algorithm/Technique</a:t>
                      </a:r>
                      <a:endParaRPr/>
                    </a:p>
                  </a:txBody>
                  <a:tcPr marL="91450" marR="91450" marT="45725" marB="45725"/>
                </a:tc>
                <a:tc>
                  <a:txBody>
                    <a:bodyPr/>
                    <a:lstStyle/>
                    <a:p>
                      <a:pPr marL="0" marR="0" lvl="0" indent="0" algn="ctr" rtl="0">
                        <a:spcBef>
                          <a:spcPts val="0"/>
                        </a:spcBef>
                        <a:spcAft>
                          <a:spcPts val="0"/>
                        </a:spcAft>
                        <a:buNone/>
                      </a:pPr>
                      <a:endParaRPr sz="1800" u="none" strike="noStrike" cap="none">
                        <a:latin typeface="Times New Roman"/>
                        <a:ea typeface="Times New Roman"/>
                        <a:cs typeface="Times New Roman"/>
                        <a:sym typeface="Times New Roman"/>
                      </a:endParaRPr>
                    </a:p>
                    <a:p>
                      <a:pPr marL="0" marR="0" lvl="0" indent="0" algn="ctr" rtl="0">
                        <a:spcBef>
                          <a:spcPts val="0"/>
                        </a:spcBef>
                        <a:spcAft>
                          <a:spcPts val="0"/>
                        </a:spcAft>
                        <a:buNone/>
                      </a:pPr>
                      <a:r>
                        <a:rPr lang="en-IN" sz="1800" u="none" strike="noStrike" cap="none">
                          <a:latin typeface="Times New Roman"/>
                          <a:ea typeface="Times New Roman"/>
                          <a:cs typeface="Times New Roman"/>
                          <a:sym typeface="Times New Roman"/>
                        </a:rPr>
                        <a:t>Purpose</a:t>
                      </a:r>
                      <a:endParaRPr/>
                    </a:p>
                  </a:txBody>
                  <a:tcPr marL="91450" marR="91450" marT="45725" marB="45725"/>
                </a:tc>
                <a:extLst>
                  <a:ext uri="{0D108BD9-81ED-4DB2-BD59-A6C34878D82A}">
                    <a16:rowId xmlns:a16="http://schemas.microsoft.com/office/drawing/2014/main" val="10000"/>
                  </a:ext>
                </a:extLst>
              </a:tr>
              <a:tr h="369825">
                <a:tc>
                  <a:txBody>
                    <a:bodyPr/>
                    <a:lstStyle/>
                    <a:p>
                      <a:pPr marL="0" marR="0" lvl="0" indent="0" algn="l" rtl="0">
                        <a:spcBef>
                          <a:spcPts val="0"/>
                        </a:spcBef>
                        <a:spcAft>
                          <a:spcPts val="0"/>
                        </a:spcAft>
                        <a:buNone/>
                      </a:pPr>
                      <a:r>
                        <a:rPr lang="en-IN" sz="1800" u="none" strike="noStrike" cap="none">
                          <a:latin typeface="Times New Roman"/>
                          <a:ea typeface="Times New Roman"/>
                          <a:cs typeface="Times New Roman"/>
                          <a:sym typeface="Times New Roman"/>
                        </a:rPr>
                        <a:t>Digital Twin Modeling</a:t>
                      </a:r>
                      <a:endParaRPr sz="18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IN" sz="1800"/>
                        <a:t>Creates a virtual representation of the supply chain.</a:t>
                      </a:r>
                      <a:endParaRPr sz="180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r h="369825">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Large Language Model(LLM)</a:t>
                      </a:r>
                      <a:endParaRPr/>
                    </a:p>
                  </a:txBody>
                  <a:tcPr marL="91450" marR="91450" marT="45725" marB="45725"/>
                </a:tc>
                <a:tc>
                  <a:txBody>
                    <a:bodyPr/>
                    <a:lstStyle/>
                    <a:p>
                      <a:pPr marL="0" marR="0" lvl="0" indent="0" algn="l" rtl="0">
                        <a:spcBef>
                          <a:spcPts val="0"/>
                        </a:spcBef>
                        <a:spcAft>
                          <a:spcPts val="0"/>
                        </a:spcAft>
                        <a:buNone/>
                      </a:pPr>
                      <a:r>
                        <a:rPr lang="en-IN" sz="1800"/>
                        <a:t>Generates realistic supply chain disruption scenarios.</a:t>
                      </a:r>
                      <a:endParaRPr sz="180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2"/>
                  </a:ext>
                </a:extLst>
              </a:tr>
              <a:tr h="369825">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Risk Assessment</a:t>
                      </a:r>
                      <a:endParaRPr/>
                    </a:p>
                  </a:txBody>
                  <a:tcPr marL="91450" marR="91450" marT="45725" marB="45725"/>
                </a:tc>
                <a:tc>
                  <a:txBody>
                    <a:bodyPr/>
                    <a:lstStyle/>
                    <a:p>
                      <a:pPr marL="0" marR="0" lvl="0" indent="0" algn="l" rtl="0">
                        <a:spcBef>
                          <a:spcPts val="0"/>
                        </a:spcBef>
                        <a:spcAft>
                          <a:spcPts val="0"/>
                        </a:spcAft>
                        <a:buNone/>
                      </a:pPr>
                      <a:r>
                        <a:rPr lang="en-IN" sz="1800"/>
                        <a:t>Evaluates the impact and severity of disruptions.</a:t>
                      </a:r>
                      <a:endParaRPr sz="180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3"/>
                  </a:ext>
                </a:extLst>
              </a:tr>
              <a:tr h="369825">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Dijkstra’s Algorithm</a:t>
                      </a:r>
                      <a:endParaRPr/>
                    </a:p>
                  </a:txBody>
                  <a:tcPr marL="91450" marR="91450" marT="45725" marB="45725"/>
                </a:tc>
                <a:tc>
                  <a:txBody>
                    <a:bodyPr/>
                    <a:lstStyle/>
                    <a:p>
                      <a:pPr marL="0" marR="0" lvl="0" indent="0" algn="l" rtl="0">
                        <a:spcBef>
                          <a:spcPts val="0"/>
                        </a:spcBef>
                        <a:spcAft>
                          <a:spcPts val="0"/>
                        </a:spcAft>
                        <a:buNone/>
                      </a:pPr>
                      <a:r>
                        <a:rPr lang="en-IN" sz="1800"/>
                        <a:t>Finds the best alternative transportation routes.</a:t>
                      </a:r>
                      <a:endParaRPr sz="180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4"/>
                  </a:ext>
                </a:extLst>
              </a:tr>
              <a:tr h="369825">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Optimization Technique</a:t>
                      </a:r>
                      <a:endParaRPr/>
                    </a:p>
                  </a:txBody>
                  <a:tcPr marL="91450" marR="91450" marT="45725" marB="45725"/>
                </a:tc>
                <a:tc>
                  <a:txBody>
                    <a:bodyPr/>
                    <a:lstStyle/>
                    <a:p>
                      <a:pPr marL="0" marR="0" lvl="0" indent="0" algn="l" rtl="0">
                        <a:spcBef>
                          <a:spcPts val="0"/>
                        </a:spcBef>
                        <a:spcAft>
                          <a:spcPts val="0"/>
                        </a:spcAft>
                        <a:buNone/>
                      </a:pPr>
                      <a:r>
                        <a:rPr lang="en-IN" sz="1800"/>
                        <a:t>Recommends optimal recovery and resilience strategies.</a:t>
                      </a:r>
                      <a:endParaRPr sz="180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5"/>
                  </a:ext>
                </a:extLst>
              </a:tr>
            </a:tbl>
          </a:graphicData>
        </a:graphic>
      </p:graphicFrame>
      <p:sp>
        <p:nvSpPr>
          <p:cNvPr id="156" name="Google Shape;156;p24"/>
          <p:cNvSpPr txBox="1"/>
          <p:nvPr/>
        </p:nvSpPr>
        <p:spPr>
          <a:xfrm>
            <a:off x="2203943" y="393379"/>
            <a:ext cx="795997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b="1" cap="small">
                <a:solidFill>
                  <a:srgbClr val="1F3864"/>
                </a:solidFill>
                <a:latin typeface="Cambria"/>
                <a:ea typeface="Cambria"/>
                <a:cs typeface="Cambria"/>
                <a:sym typeface="Cambria"/>
              </a:rPr>
              <a:t>Algorithm, Tools &amp; Technologies Used </a:t>
            </a:r>
            <a:endParaRPr sz="3200" b="1" u="none" strike="noStrike" cap="small">
              <a:solidFill>
                <a:srgbClr val="1F3864"/>
              </a:solidFill>
              <a:latin typeface="Cambria"/>
              <a:ea typeface="Cambria"/>
              <a:cs typeface="Cambria"/>
              <a:sym typeface="Cambria"/>
            </a:endParaRPr>
          </a:p>
        </p:txBody>
      </p:sp>
      <p:sp>
        <p:nvSpPr>
          <p:cNvPr id="157" name="Google Shape;157;p24"/>
          <p:cNvSpPr txBox="1"/>
          <p:nvPr/>
        </p:nvSpPr>
        <p:spPr>
          <a:xfrm>
            <a:off x="1137133" y="1495344"/>
            <a:ext cx="4853355"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800" b="1" cap="small">
                <a:solidFill>
                  <a:srgbClr val="1F3864"/>
                </a:solidFill>
                <a:latin typeface="Cambria"/>
                <a:ea typeface="Cambria"/>
                <a:cs typeface="Cambria"/>
                <a:sym typeface="Cambria"/>
              </a:rPr>
              <a:t>Algorithms/Techniques used: </a:t>
            </a:r>
            <a:endParaRPr sz="2800" b="1" u="none" strike="noStrike" cap="small">
              <a:solidFill>
                <a:srgbClr val="1F3864"/>
              </a:solidFill>
              <a:latin typeface="Cambria"/>
              <a:ea typeface="Cambria"/>
              <a:cs typeface="Cambria"/>
              <a:sym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5"/>
          <p:cNvSpPr txBox="1"/>
          <p:nvPr/>
        </p:nvSpPr>
        <p:spPr>
          <a:xfrm>
            <a:off x="2438399" y="381652"/>
            <a:ext cx="7315201"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b="1" cap="small">
                <a:solidFill>
                  <a:srgbClr val="1F3864"/>
                </a:solidFill>
                <a:latin typeface="Cambria"/>
                <a:ea typeface="Cambria"/>
                <a:cs typeface="Cambria"/>
                <a:sym typeface="Cambria"/>
              </a:rPr>
              <a:t>Algorithm, Tools &amp; Technologies Used </a:t>
            </a:r>
            <a:endParaRPr sz="3200" b="1" u="none" strike="noStrike" cap="small">
              <a:solidFill>
                <a:srgbClr val="1F3864"/>
              </a:solidFill>
              <a:latin typeface="Cambria"/>
              <a:ea typeface="Cambria"/>
              <a:cs typeface="Cambria"/>
              <a:sym typeface="Cambria"/>
            </a:endParaRPr>
          </a:p>
        </p:txBody>
      </p:sp>
      <p:sp>
        <p:nvSpPr>
          <p:cNvPr id="163" name="Google Shape;163;p25"/>
          <p:cNvSpPr txBox="1"/>
          <p:nvPr/>
        </p:nvSpPr>
        <p:spPr>
          <a:xfrm>
            <a:off x="820613" y="1725452"/>
            <a:ext cx="4149969"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800" b="1" cap="small">
                <a:solidFill>
                  <a:srgbClr val="1F3864"/>
                </a:solidFill>
                <a:latin typeface="Cambria"/>
                <a:ea typeface="Cambria"/>
                <a:cs typeface="Cambria"/>
                <a:sym typeface="Cambria"/>
              </a:rPr>
              <a:t>Tools &amp; Technologies: </a:t>
            </a:r>
            <a:endParaRPr sz="2800" b="1" u="none" strike="noStrike" cap="small">
              <a:solidFill>
                <a:srgbClr val="1F3864"/>
              </a:solidFill>
              <a:latin typeface="Cambria"/>
              <a:ea typeface="Cambria"/>
              <a:cs typeface="Cambria"/>
              <a:sym typeface="Cambria"/>
            </a:endParaRPr>
          </a:p>
        </p:txBody>
      </p:sp>
      <p:graphicFrame>
        <p:nvGraphicFramePr>
          <p:cNvPr id="164" name="Google Shape;164;p25"/>
          <p:cNvGraphicFramePr/>
          <p:nvPr/>
        </p:nvGraphicFramePr>
        <p:xfrm>
          <a:off x="1625600" y="2583636"/>
          <a:ext cx="8128000" cy="3247875"/>
        </p:xfrm>
        <a:graphic>
          <a:graphicData uri="http://schemas.openxmlformats.org/drawingml/2006/table">
            <a:tbl>
              <a:tblPr firstRow="1" bandRow="1">
                <a:noFill/>
                <a:tableStyleId>{87E95693-1380-485A-A3F9-348DDAD55970}</a:tableStyleId>
              </a:tblPr>
              <a:tblGrid>
                <a:gridCol w="2735375">
                  <a:extLst>
                    <a:ext uri="{9D8B030D-6E8A-4147-A177-3AD203B41FA5}">
                      <a16:colId xmlns:a16="http://schemas.microsoft.com/office/drawing/2014/main" val="20000"/>
                    </a:ext>
                  </a:extLst>
                </a:gridCol>
                <a:gridCol w="5392625">
                  <a:extLst>
                    <a:ext uri="{9D8B030D-6E8A-4147-A177-3AD203B41FA5}">
                      <a16:colId xmlns:a16="http://schemas.microsoft.com/office/drawing/2014/main" val="20001"/>
                    </a:ext>
                  </a:extLst>
                </a:gridCol>
              </a:tblGrid>
              <a:tr h="651925">
                <a:tc>
                  <a:txBody>
                    <a:bodyPr/>
                    <a:lstStyle/>
                    <a:p>
                      <a:pPr marL="0" marR="0" lvl="0" indent="0" algn="ctr" rtl="0">
                        <a:spcBef>
                          <a:spcPts val="0"/>
                        </a:spcBef>
                        <a:spcAft>
                          <a:spcPts val="0"/>
                        </a:spcAft>
                        <a:buNone/>
                      </a:pPr>
                      <a:endParaRPr sz="1800">
                        <a:latin typeface="Times New Roman"/>
                        <a:ea typeface="Times New Roman"/>
                        <a:cs typeface="Times New Roman"/>
                        <a:sym typeface="Times New Roman"/>
                      </a:endParaRPr>
                    </a:p>
                    <a:p>
                      <a:pPr marL="0" marR="0" lvl="0" indent="0" algn="ctr" rtl="0">
                        <a:spcBef>
                          <a:spcPts val="0"/>
                        </a:spcBef>
                        <a:spcAft>
                          <a:spcPts val="0"/>
                        </a:spcAft>
                        <a:buNone/>
                      </a:pPr>
                      <a:r>
                        <a:rPr lang="en-IN" sz="1800">
                          <a:latin typeface="Times New Roman"/>
                          <a:ea typeface="Times New Roman"/>
                          <a:cs typeface="Times New Roman"/>
                          <a:sym typeface="Times New Roman"/>
                        </a:rPr>
                        <a:t>Tool / Technology</a:t>
                      </a:r>
                      <a:endParaRPr/>
                    </a:p>
                  </a:txBody>
                  <a:tcPr marL="91450" marR="91450" marT="45725" marB="45725"/>
                </a:tc>
                <a:tc>
                  <a:txBody>
                    <a:bodyPr/>
                    <a:lstStyle/>
                    <a:p>
                      <a:pPr marL="0" marR="0" lvl="0" indent="0" algn="ctr" rtl="0">
                        <a:spcBef>
                          <a:spcPts val="0"/>
                        </a:spcBef>
                        <a:spcAft>
                          <a:spcPts val="0"/>
                        </a:spcAft>
                        <a:buNone/>
                      </a:pPr>
                      <a:endParaRPr sz="1800">
                        <a:latin typeface="Times New Roman"/>
                        <a:ea typeface="Times New Roman"/>
                        <a:cs typeface="Times New Roman"/>
                        <a:sym typeface="Times New Roman"/>
                      </a:endParaRPr>
                    </a:p>
                    <a:p>
                      <a:pPr marL="0" marR="0" lvl="0" indent="0" algn="ctr" rtl="0">
                        <a:spcBef>
                          <a:spcPts val="0"/>
                        </a:spcBef>
                        <a:spcAft>
                          <a:spcPts val="0"/>
                        </a:spcAft>
                        <a:buNone/>
                      </a:pPr>
                      <a:r>
                        <a:rPr lang="en-IN" sz="1800">
                          <a:latin typeface="Times New Roman"/>
                          <a:ea typeface="Times New Roman"/>
                          <a:cs typeface="Times New Roman"/>
                          <a:sym typeface="Times New Roman"/>
                        </a:rPr>
                        <a:t>Purpose</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Python</a:t>
                      </a:r>
                      <a:endParaRPr/>
                    </a:p>
                  </a:txBody>
                  <a:tcPr marL="91450" marR="91450" marT="45725" marB="45725"/>
                </a:tc>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Backend development and Implementation</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Streamlit</a:t>
                      </a:r>
                      <a:endParaRPr sz="18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Interactive web application development</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SQLite</a:t>
                      </a:r>
                      <a:endParaRPr/>
                    </a:p>
                  </a:txBody>
                  <a:tcPr marL="91450" marR="91450" marT="45725" marB="45725"/>
                </a:tc>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Database management</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Pandas &amp; NumPy</a:t>
                      </a:r>
                      <a:endParaRPr/>
                    </a:p>
                  </a:txBody>
                  <a:tcPr marL="91450" marR="91450" marT="45725" marB="45725"/>
                </a:tc>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Data preprocessing and analysis</a:t>
                      </a:r>
                      <a:endParaRPr/>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NetworkX</a:t>
                      </a:r>
                      <a:endParaRPr sz="18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Digital Twin and supply chain network modeling</a:t>
                      </a:r>
                      <a:endParaRPr sz="180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5"/>
                  </a:ext>
                </a:extLst>
              </a:tr>
              <a:tr h="370850">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Gemini API</a:t>
                      </a:r>
                      <a:endParaRPr/>
                    </a:p>
                  </a:txBody>
                  <a:tcPr marL="91450" marR="91450" marT="45725" marB="45725"/>
                </a:tc>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AI-based disruption scenario generation</a:t>
                      </a:r>
                      <a:endParaRPr/>
                    </a:p>
                  </a:txBody>
                  <a:tcPr marL="91450" marR="91450" marT="45725" marB="45725"/>
                </a:tc>
                <a:extLst>
                  <a:ext uri="{0D108BD9-81ED-4DB2-BD59-A6C34878D82A}">
                    <a16:rowId xmlns:a16="http://schemas.microsoft.com/office/drawing/2014/main" val="10006"/>
                  </a:ext>
                </a:extLst>
              </a:tr>
              <a:tr h="370850">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Plotly / Matplotlib</a:t>
                      </a:r>
                      <a:endParaRPr/>
                    </a:p>
                  </a:txBody>
                  <a:tcPr marL="91450" marR="91450" marT="45725" marB="45725"/>
                </a:tc>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Data visualization and dashboards</a:t>
                      </a:r>
                      <a:endParaRPr/>
                    </a:p>
                  </a:txBody>
                  <a:tcPr marL="91450" marR="91450" marT="45725" marB="45725"/>
                </a:tc>
                <a:extLst>
                  <a:ext uri="{0D108BD9-81ED-4DB2-BD59-A6C34878D82A}">
                    <a16:rowId xmlns:a16="http://schemas.microsoft.com/office/drawing/2014/main" val="10007"/>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6"/>
          <p:cNvSpPr txBox="1"/>
          <p:nvPr/>
        </p:nvSpPr>
        <p:spPr>
          <a:xfrm>
            <a:off x="3950678" y="70991"/>
            <a:ext cx="4232031"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b="1" cap="small" dirty="0">
                <a:solidFill>
                  <a:srgbClr val="1F3864"/>
                </a:solidFill>
                <a:latin typeface="Cambria"/>
                <a:ea typeface="Cambria"/>
                <a:cs typeface="Cambria"/>
                <a:sym typeface="Cambria"/>
              </a:rPr>
              <a:t>Results(Screen shots) </a:t>
            </a:r>
            <a:endParaRPr sz="3200" b="1" u="none" strike="noStrike" cap="small" dirty="0">
              <a:solidFill>
                <a:srgbClr val="1F3864"/>
              </a:solidFill>
              <a:latin typeface="Cambria"/>
              <a:ea typeface="Cambria"/>
              <a:cs typeface="Cambria"/>
              <a:sym typeface="Cambria"/>
            </a:endParaRPr>
          </a:p>
        </p:txBody>
      </p:sp>
      <p:pic>
        <p:nvPicPr>
          <p:cNvPr id="2" name="Picture 1">
            <a:extLst>
              <a:ext uri="{FF2B5EF4-FFF2-40B4-BE49-F238E27FC236}">
                <a16:creationId xmlns:a16="http://schemas.microsoft.com/office/drawing/2014/main" id="{E3E22A2C-EF20-1F24-2B3A-523A94C652B0}"/>
              </a:ext>
            </a:extLst>
          </p:cNvPr>
          <p:cNvPicPr>
            <a:picLocks noChangeAspect="1"/>
          </p:cNvPicPr>
          <p:nvPr/>
        </p:nvPicPr>
        <p:blipFill>
          <a:blip r:embed="rId3"/>
          <a:stretch>
            <a:fillRect/>
          </a:stretch>
        </p:blipFill>
        <p:spPr>
          <a:xfrm>
            <a:off x="243743" y="846280"/>
            <a:ext cx="5731510" cy="2756535"/>
          </a:xfrm>
          <a:prstGeom prst="rect">
            <a:avLst/>
          </a:prstGeom>
        </p:spPr>
      </p:pic>
      <p:sp>
        <p:nvSpPr>
          <p:cNvPr id="6" name="TextBox 5">
            <a:extLst>
              <a:ext uri="{FF2B5EF4-FFF2-40B4-BE49-F238E27FC236}">
                <a16:creationId xmlns:a16="http://schemas.microsoft.com/office/drawing/2014/main" id="{B9E69D2D-5547-CA68-E240-BBF81A3ACDDC}"/>
              </a:ext>
            </a:extLst>
          </p:cNvPr>
          <p:cNvSpPr txBox="1"/>
          <p:nvPr/>
        </p:nvSpPr>
        <p:spPr>
          <a:xfrm>
            <a:off x="701578" y="3595209"/>
            <a:ext cx="4998720" cy="307777"/>
          </a:xfrm>
          <a:prstGeom prst="rect">
            <a:avLst/>
          </a:prstGeom>
          <a:noFill/>
        </p:spPr>
        <p:txBody>
          <a:bodyPr wrap="square">
            <a:spAutoFit/>
          </a:bodyPr>
          <a:lstStyle/>
          <a:p>
            <a:r>
              <a:rPr lang="en-IN" sz="1400" i="1" dirty="0">
                <a:solidFill>
                  <a:srgbClr val="000000"/>
                </a:solidFill>
                <a:effectLst/>
                <a:latin typeface="Arial"/>
                <a:ea typeface="Times New Roman" panose="02020603050405020304" pitchFamily="18" charset="0"/>
              </a:rPr>
              <a:t>Figure 1</a:t>
            </a:r>
            <a:r>
              <a:rPr lang="en-IN" i="1" dirty="0">
                <a:ea typeface="Times New Roman" panose="02020603050405020304" pitchFamily="18" charset="0"/>
              </a:rPr>
              <a:t>:</a:t>
            </a:r>
            <a:r>
              <a:rPr lang="en-IN" sz="1400" i="1" dirty="0">
                <a:solidFill>
                  <a:srgbClr val="000000"/>
                </a:solidFill>
                <a:effectLst/>
                <a:latin typeface="Arial"/>
                <a:ea typeface="Times New Roman" panose="02020603050405020304" pitchFamily="18" charset="0"/>
              </a:rPr>
              <a:t> </a:t>
            </a:r>
            <a:r>
              <a:rPr lang="en-IN" sz="1400" i="1" dirty="0" err="1">
                <a:solidFill>
                  <a:srgbClr val="000000"/>
                </a:solidFill>
                <a:effectLst/>
                <a:latin typeface="Arial"/>
                <a:ea typeface="Times New Roman" panose="02020603050405020304" pitchFamily="18" charset="0"/>
              </a:rPr>
              <a:t>Streamlit</a:t>
            </a:r>
            <a:r>
              <a:rPr lang="en-IN" sz="1400" i="1" dirty="0">
                <a:solidFill>
                  <a:srgbClr val="000000"/>
                </a:solidFill>
                <a:effectLst/>
                <a:latin typeface="Arial"/>
                <a:ea typeface="Times New Roman" panose="02020603050405020304" pitchFamily="18" charset="0"/>
              </a:rPr>
              <a:t> dashboard — Digital Twin network view</a:t>
            </a:r>
            <a:endParaRPr lang="en-IN" dirty="0"/>
          </a:p>
        </p:txBody>
      </p:sp>
      <p:pic>
        <p:nvPicPr>
          <p:cNvPr id="7" name="Picture 6">
            <a:extLst>
              <a:ext uri="{FF2B5EF4-FFF2-40B4-BE49-F238E27FC236}">
                <a16:creationId xmlns:a16="http://schemas.microsoft.com/office/drawing/2014/main" id="{72E8ADDA-8FBE-A0FD-7BAF-387A6BB83C8E}"/>
              </a:ext>
            </a:extLst>
          </p:cNvPr>
          <p:cNvPicPr>
            <a:picLocks noChangeAspect="1"/>
          </p:cNvPicPr>
          <p:nvPr/>
        </p:nvPicPr>
        <p:blipFill>
          <a:blip r:embed="rId4"/>
          <a:stretch>
            <a:fillRect/>
          </a:stretch>
        </p:blipFill>
        <p:spPr>
          <a:xfrm>
            <a:off x="6224905" y="863282"/>
            <a:ext cx="5731510" cy="2723515"/>
          </a:xfrm>
          <a:prstGeom prst="rect">
            <a:avLst/>
          </a:prstGeom>
        </p:spPr>
      </p:pic>
      <p:sp>
        <p:nvSpPr>
          <p:cNvPr id="9" name="TextBox 8">
            <a:extLst>
              <a:ext uri="{FF2B5EF4-FFF2-40B4-BE49-F238E27FC236}">
                <a16:creationId xmlns:a16="http://schemas.microsoft.com/office/drawing/2014/main" id="{8D2C6FCA-5692-2BAE-C2A6-0930023415BA}"/>
              </a:ext>
            </a:extLst>
          </p:cNvPr>
          <p:cNvSpPr txBox="1"/>
          <p:nvPr/>
        </p:nvSpPr>
        <p:spPr>
          <a:xfrm>
            <a:off x="6112413" y="3589169"/>
            <a:ext cx="6096000" cy="523220"/>
          </a:xfrm>
          <a:prstGeom prst="rect">
            <a:avLst/>
          </a:prstGeom>
          <a:noFill/>
        </p:spPr>
        <p:txBody>
          <a:bodyPr wrap="square">
            <a:spAutoFit/>
          </a:bodyPr>
          <a:lstStyle/>
          <a:p>
            <a:pPr algn="ctr">
              <a:spcBef>
                <a:spcPts val="400"/>
              </a:spcBef>
              <a:spcAft>
                <a:spcPts val="1000"/>
              </a:spcAft>
              <a:buNone/>
            </a:pPr>
            <a:r>
              <a:rPr lang="en-IN" sz="1400" i="1" dirty="0">
                <a:solidFill>
                  <a:srgbClr val="000000"/>
                </a:solidFill>
                <a:effectLst/>
                <a:latin typeface="Arial"/>
                <a:ea typeface="Times New Roman" panose="02020603050405020304" pitchFamily="18" charset="0"/>
              </a:rPr>
              <a:t>Figure 2: </a:t>
            </a:r>
            <a:r>
              <a:rPr lang="en-IN" sz="1400" i="1" dirty="0" err="1">
                <a:solidFill>
                  <a:srgbClr val="000000"/>
                </a:solidFill>
                <a:effectLst/>
                <a:latin typeface="Arial"/>
                <a:ea typeface="Times New Roman" panose="02020603050405020304" pitchFamily="18" charset="0"/>
              </a:rPr>
              <a:t>Streamlit</a:t>
            </a:r>
            <a:r>
              <a:rPr lang="en-IN" sz="1400" i="1" dirty="0">
                <a:solidFill>
                  <a:srgbClr val="000000"/>
                </a:solidFill>
                <a:effectLst/>
                <a:latin typeface="Arial"/>
                <a:ea typeface="Times New Roman" panose="02020603050405020304" pitchFamily="18" charset="0"/>
              </a:rPr>
              <a:t> dashboard — disruption simulation results and estimated impact. </a:t>
            </a:r>
            <a:endParaRPr lang="en-IN" sz="1200" dirty="0">
              <a:effectLst/>
              <a:latin typeface="Times New Roman" panose="02020603050405020304" pitchFamily="18" charset="0"/>
              <a:ea typeface="Times New Roman" panose="02020603050405020304" pitchFamily="18" charset="0"/>
            </a:endParaRPr>
          </a:p>
        </p:txBody>
      </p:sp>
      <p:pic>
        <p:nvPicPr>
          <p:cNvPr id="10" name="Picture 9">
            <a:extLst>
              <a:ext uri="{FF2B5EF4-FFF2-40B4-BE49-F238E27FC236}">
                <a16:creationId xmlns:a16="http://schemas.microsoft.com/office/drawing/2014/main" id="{3B59F575-A3A3-C08E-2B72-E889C9D0C438}"/>
              </a:ext>
            </a:extLst>
          </p:cNvPr>
          <p:cNvPicPr>
            <a:picLocks noChangeAspect="1"/>
          </p:cNvPicPr>
          <p:nvPr/>
        </p:nvPicPr>
        <p:blipFill>
          <a:blip r:embed="rId5"/>
          <a:stretch>
            <a:fillRect/>
          </a:stretch>
        </p:blipFill>
        <p:spPr>
          <a:xfrm>
            <a:off x="2985770" y="3932312"/>
            <a:ext cx="4998720" cy="2375306"/>
          </a:xfrm>
          <a:prstGeom prst="rect">
            <a:avLst/>
          </a:prstGeom>
        </p:spPr>
      </p:pic>
      <p:sp>
        <p:nvSpPr>
          <p:cNvPr id="12" name="TextBox 11">
            <a:extLst>
              <a:ext uri="{FF2B5EF4-FFF2-40B4-BE49-F238E27FC236}">
                <a16:creationId xmlns:a16="http://schemas.microsoft.com/office/drawing/2014/main" id="{2A5927D2-4F2F-1E37-23A7-9A380EC465F4}"/>
              </a:ext>
            </a:extLst>
          </p:cNvPr>
          <p:cNvSpPr txBox="1"/>
          <p:nvPr/>
        </p:nvSpPr>
        <p:spPr>
          <a:xfrm>
            <a:off x="2465070" y="6414850"/>
            <a:ext cx="6103620" cy="307777"/>
          </a:xfrm>
          <a:prstGeom prst="rect">
            <a:avLst/>
          </a:prstGeom>
          <a:noFill/>
        </p:spPr>
        <p:txBody>
          <a:bodyPr wrap="square">
            <a:spAutoFit/>
          </a:bodyPr>
          <a:lstStyle/>
          <a:p>
            <a:pPr algn="ctr">
              <a:spcBef>
                <a:spcPts val="400"/>
              </a:spcBef>
              <a:spcAft>
                <a:spcPts val="1000"/>
              </a:spcAft>
              <a:buNone/>
            </a:pPr>
            <a:r>
              <a:rPr lang="en-IN" sz="1400" i="1" dirty="0">
                <a:solidFill>
                  <a:srgbClr val="000000"/>
                </a:solidFill>
                <a:effectLst/>
                <a:latin typeface="Arial"/>
                <a:ea typeface="Times New Roman" panose="02020603050405020304" pitchFamily="18" charset="0"/>
              </a:rPr>
              <a:t>Figure 3: </a:t>
            </a:r>
            <a:r>
              <a:rPr lang="en-IN" sz="1400" i="1" dirty="0" err="1">
                <a:solidFill>
                  <a:srgbClr val="000000"/>
                </a:solidFill>
                <a:effectLst/>
                <a:latin typeface="Arial"/>
                <a:ea typeface="Times New Roman" panose="02020603050405020304" pitchFamily="18" charset="0"/>
              </a:rPr>
              <a:t>Streamlit</a:t>
            </a:r>
            <a:r>
              <a:rPr lang="en-IN" sz="1400" i="1" dirty="0">
                <a:solidFill>
                  <a:srgbClr val="000000"/>
                </a:solidFill>
                <a:effectLst/>
                <a:latin typeface="Arial"/>
                <a:ea typeface="Times New Roman" panose="02020603050405020304" pitchFamily="18" charset="0"/>
              </a:rPr>
              <a:t> dashboard — resilience planning recommendations. </a:t>
            </a:r>
            <a:endParaRPr lang="en-IN" sz="12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7"/>
          <p:cNvSpPr txBox="1"/>
          <p:nvPr/>
        </p:nvSpPr>
        <p:spPr>
          <a:xfrm>
            <a:off x="4736123" y="299591"/>
            <a:ext cx="2883877"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b="1" cap="small">
                <a:solidFill>
                  <a:srgbClr val="1F3864"/>
                </a:solidFill>
                <a:latin typeface="Cambria"/>
                <a:ea typeface="Cambria"/>
                <a:cs typeface="Cambria"/>
                <a:sym typeface="Cambria"/>
              </a:rPr>
              <a:t>Conclusion </a:t>
            </a:r>
            <a:endParaRPr sz="3200" b="1" u="none" strike="noStrike" cap="small">
              <a:solidFill>
                <a:srgbClr val="1F3864"/>
              </a:solidFill>
              <a:latin typeface="Cambria"/>
              <a:ea typeface="Cambria"/>
              <a:cs typeface="Cambria"/>
              <a:sym typeface="Cambria"/>
            </a:endParaRPr>
          </a:p>
        </p:txBody>
      </p:sp>
      <p:sp>
        <p:nvSpPr>
          <p:cNvPr id="175" name="Google Shape;175;p27"/>
          <p:cNvSpPr txBox="1"/>
          <p:nvPr/>
        </p:nvSpPr>
        <p:spPr>
          <a:xfrm>
            <a:off x="1214850" y="1621782"/>
            <a:ext cx="9762300" cy="37566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IN" sz="1700">
                <a:latin typeface="Times New Roman"/>
                <a:ea typeface="Times New Roman"/>
                <a:cs typeface="Times New Roman"/>
                <a:sym typeface="Times New Roman"/>
              </a:rPr>
              <a:t>The GenTwin project successfully integrates digital twin technology and generative AI to revolutionize supply chain management through advanced disruption simulation and resilience planning. By creating a robust virtual network using Python, NetworkX, and SQLite, the system models real-world inventory, logistics, and customer demand flows. Leveraging the Gemini API, it simulates complex, multi-faceted disruption scenarios such as supplier failures and transit delays while assessing critical operational risks. Furthermore, the framework incorporates Dijkstra's algorithm and intelligent optimization techniques to automatically generate optimal recovery strategies, like alternative routing and backup supplier selection. Stakeholders can effortlessly interact with these insights through a dynamic Streamlit-backed dashboard that displays real-time reports and visual analytics. Ultimately, this proactive decision-support tool empowers organizations to minimize operational downtime, reduce financial costs, and ensure long-term business continuity in highly volatile environments. This innovative approach bridges the gap between passive monitoring and autonomous, risk-resilient supply chain operations. </a:t>
            </a:r>
            <a:endParaRPr sz="17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8"/>
          <p:cNvSpPr txBox="1"/>
          <p:nvPr/>
        </p:nvSpPr>
        <p:spPr>
          <a:xfrm>
            <a:off x="4243754" y="369929"/>
            <a:ext cx="3704492"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b="1" cap="small">
                <a:solidFill>
                  <a:srgbClr val="1F3864"/>
                </a:solidFill>
                <a:latin typeface="Cambria"/>
                <a:ea typeface="Cambria"/>
                <a:cs typeface="Cambria"/>
                <a:sym typeface="Cambria"/>
              </a:rPr>
              <a:t>References </a:t>
            </a:r>
            <a:endParaRPr sz="3200" b="1" u="none" strike="noStrike" cap="small">
              <a:solidFill>
                <a:srgbClr val="1F3864"/>
              </a:solidFill>
              <a:latin typeface="Cambria"/>
              <a:ea typeface="Cambria"/>
              <a:cs typeface="Cambria"/>
              <a:sym typeface="Cambria"/>
            </a:endParaRPr>
          </a:p>
        </p:txBody>
      </p:sp>
      <p:sp>
        <p:nvSpPr>
          <p:cNvPr id="181" name="Google Shape;181;p28"/>
          <p:cNvSpPr txBox="1"/>
          <p:nvPr/>
        </p:nvSpPr>
        <p:spPr>
          <a:xfrm>
            <a:off x="1090246" y="1376732"/>
            <a:ext cx="10398370" cy="5028556"/>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chemeClr val="dk1"/>
              </a:buClr>
              <a:buSzPts val="1800"/>
              <a:buFont typeface="Noto Sans Symbols"/>
              <a:buChar char="⮚"/>
            </a:pPr>
            <a:r>
              <a:rPr lang="en-IN" sz="1800" b="1">
                <a:solidFill>
                  <a:schemeClr val="dk1"/>
                </a:solidFill>
                <a:latin typeface="Times New Roman"/>
                <a:ea typeface="Times New Roman"/>
                <a:cs typeface="Times New Roman"/>
                <a:sym typeface="Times New Roman"/>
              </a:rPr>
              <a:t>Benhamou, L., Giard, V., &amp; Lamouri, S. (2026).</a:t>
            </a:r>
            <a:r>
              <a:rPr lang="en-IN" sz="1800">
                <a:solidFill>
                  <a:schemeClr val="dk1"/>
                </a:solidFill>
                <a:latin typeface="Times New Roman"/>
                <a:ea typeface="Times New Roman"/>
                <a:cs typeface="Times New Roman"/>
                <a:sym typeface="Times New Roman"/>
              </a:rPr>
              <a:t> </a:t>
            </a:r>
            <a:r>
              <a:rPr lang="en-IN" sz="1800" i="1">
                <a:solidFill>
                  <a:schemeClr val="dk1"/>
                </a:solidFill>
                <a:latin typeface="Times New Roman"/>
                <a:ea typeface="Times New Roman"/>
                <a:cs typeface="Times New Roman"/>
                <a:sym typeface="Times New Roman"/>
              </a:rPr>
              <a:t>Digital Twins in Supply Chain Management: Scope and Methodological Issues.</a:t>
            </a:r>
            <a:r>
              <a:rPr lang="en-IN" sz="1800">
                <a:solidFill>
                  <a:schemeClr val="dk1"/>
                </a:solidFill>
                <a:latin typeface="Times New Roman"/>
                <a:ea typeface="Times New Roman"/>
                <a:cs typeface="Times New Roman"/>
                <a:sym typeface="Times New Roman"/>
              </a:rPr>
              <a:t> </a:t>
            </a:r>
            <a:r>
              <a:rPr lang="en-IN" sz="1800" b="1">
                <a:solidFill>
                  <a:schemeClr val="dk1"/>
                </a:solidFill>
                <a:latin typeface="Times New Roman"/>
                <a:ea typeface="Times New Roman"/>
                <a:cs typeface="Times New Roman"/>
                <a:sym typeface="Times New Roman"/>
              </a:rPr>
              <a:t>International Journal of Production Economics.</a:t>
            </a:r>
            <a:r>
              <a:rPr lang="en-IN" sz="1800">
                <a:solidFill>
                  <a:schemeClr val="dk1"/>
                </a:solidFill>
                <a:latin typeface="Times New Roman"/>
                <a:ea typeface="Times New Roman"/>
                <a:cs typeface="Times New Roman"/>
                <a:sym typeface="Times New Roman"/>
              </a:rPr>
              <a:t> </a:t>
            </a:r>
            <a:endParaRPr/>
          </a:p>
          <a:p>
            <a:pPr marL="342900" marR="0" lvl="0" indent="-342900" algn="l" rtl="0">
              <a:lnSpc>
                <a:spcPct val="150000"/>
              </a:lnSpc>
              <a:spcBef>
                <a:spcPts val="0"/>
              </a:spcBef>
              <a:spcAft>
                <a:spcPts val="0"/>
              </a:spcAft>
              <a:buClr>
                <a:schemeClr val="dk1"/>
              </a:buClr>
              <a:buSzPts val="1800"/>
              <a:buFont typeface="Noto Sans Symbols"/>
              <a:buChar char="⮚"/>
            </a:pPr>
            <a:r>
              <a:rPr lang="en-IN" sz="1800" b="1">
                <a:solidFill>
                  <a:schemeClr val="dk1"/>
                </a:solidFill>
                <a:latin typeface="Times New Roman"/>
                <a:ea typeface="Times New Roman"/>
                <a:cs typeface="Times New Roman"/>
                <a:sym typeface="Times New Roman"/>
              </a:rPr>
              <a:t>Ivanov, D. (2026).</a:t>
            </a:r>
            <a:r>
              <a:rPr lang="en-IN" sz="1800">
                <a:solidFill>
                  <a:schemeClr val="dk1"/>
                </a:solidFill>
                <a:latin typeface="Times New Roman"/>
                <a:ea typeface="Times New Roman"/>
                <a:cs typeface="Times New Roman"/>
                <a:sym typeface="Times New Roman"/>
              </a:rPr>
              <a:t> </a:t>
            </a:r>
            <a:r>
              <a:rPr lang="en-IN" sz="1800" i="1">
                <a:solidFill>
                  <a:schemeClr val="dk1"/>
                </a:solidFill>
                <a:latin typeface="Times New Roman"/>
                <a:ea typeface="Times New Roman"/>
                <a:cs typeface="Times New Roman"/>
                <a:sym typeface="Times New Roman"/>
              </a:rPr>
              <a:t>Agentic Digital Twins: Bridging Model-Based and AI-Driven Decision-Making Support.</a:t>
            </a:r>
            <a:r>
              <a:rPr lang="en-IN" sz="1800">
                <a:solidFill>
                  <a:schemeClr val="dk1"/>
                </a:solidFill>
                <a:latin typeface="Times New Roman"/>
                <a:ea typeface="Times New Roman"/>
                <a:cs typeface="Times New Roman"/>
                <a:sym typeface="Times New Roman"/>
              </a:rPr>
              <a:t> </a:t>
            </a:r>
            <a:r>
              <a:rPr lang="en-IN" sz="1800" b="1">
                <a:solidFill>
                  <a:schemeClr val="dk1"/>
                </a:solidFill>
                <a:latin typeface="Times New Roman"/>
                <a:ea typeface="Times New Roman"/>
                <a:cs typeface="Times New Roman"/>
                <a:sym typeface="Times New Roman"/>
              </a:rPr>
              <a:t>International Journal of Production Research.</a:t>
            </a:r>
            <a:r>
              <a:rPr lang="en-IN" sz="1800">
                <a:solidFill>
                  <a:schemeClr val="dk1"/>
                </a:solidFill>
                <a:latin typeface="Times New Roman"/>
                <a:ea typeface="Times New Roman"/>
                <a:cs typeface="Times New Roman"/>
                <a:sym typeface="Times New Roman"/>
              </a:rPr>
              <a:t> </a:t>
            </a:r>
            <a:endParaRPr/>
          </a:p>
          <a:p>
            <a:pPr marL="342900" marR="0" lvl="0" indent="-342900" algn="l" rtl="0">
              <a:lnSpc>
                <a:spcPct val="150000"/>
              </a:lnSpc>
              <a:spcBef>
                <a:spcPts val="0"/>
              </a:spcBef>
              <a:spcAft>
                <a:spcPts val="0"/>
              </a:spcAft>
              <a:buClr>
                <a:schemeClr val="dk1"/>
              </a:buClr>
              <a:buSzPts val="1800"/>
              <a:buFont typeface="Noto Sans Symbols"/>
              <a:buChar char="⮚"/>
            </a:pPr>
            <a:r>
              <a:rPr lang="en-IN" sz="1800" b="1">
                <a:solidFill>
                  <a:schemeClr val="dk1"/>
                </a:solidFill>
                <a:latin typeface="Times New Roman"/>
                <a:ea typeface="Times New Roman"/>
                <a:cs typeface="Times New Roman"/>
                <a:sym typeface="Times New Roman"/>
              </a:rPr>
              <a:t>Abdel Hakim Azzi &amp; Karim Gacem (2026).</a:t>
            </a:r>
            <a:r>
              <a:rPr lang="en-IN" sz="1800">
                <a:solidFill>
                  <a:schemeClr val="dk1"/>
                </a:solidFill>
                <a:latin typeface="Times New Roman"/>
                <a:ea typeface="Times New Roman"/>
                <a:cs typeface="Times New Roman"/>
                <a:sym typeface="Times New Roman"/>
              </a:rPr>
              <a:t> </a:t>
            </a:r>
            <a:r>
              <a:rPr lang="en-IN" sz="1800" i="1">
                <a:solidFill>
                  <a:schemeClr val="dk1"/>
                </a:solidFill>
                <a:latin typeface="Times New Roman"/>
                <a:ea typeface="Times New Roman"/>
                <a:cs typeface="Times New Roman"/>
                <a:sym typeface="Times New Roman"/>
              </a:rPr>
              <a:t>A Bibliometric Analysis of Digital Twin Applications in Supply Chain Management: Evidence from Scopus (2015–2025).</a:t>
            </a:r>
            <a:r>
              <a:rPr lang="en-IN" sz="1800">
                <a:solidFill>
                  <a:schemeClr val="dk1"/>
                </a:solidFill>
                <a:latin typeface="Times New Roman"/>
                <a:ea typeface="Times New Roman"/>
                <a:cs typeface="Times New Roman"/>
                <a:sym typeface="Times New Roman"/>
              </a:rPr>
              <a:t> </a:t>
            </a:r>
            <a:endParaRPr/>
          </a:p>
          <a:p>
            <a:pPr marL="342900" marR="0" lvl="0" indent="-342900" algn="l" rtl="0">
              <a:lnSpc>
                <a:spcPct val="150000"/>
              </a:lnSpc>
              <a:spcBef>
                <a:spcPts val="0"/>
              </a:spcBef>
              <a:spcAft>
                <a:spcPts val="0"/>
              </a:spcAft>
              <a:buClr>
                <a:schemeClr val="dk1"/>
              </a:buClr>
              <a:buSzPts val="1800"/>
              <a:buFont typeface="Noto Sans Symbols"/>
              <a:buChar char="⮚"/>
            </a:pPr>
            <a:r>
              <a:rPr lang="en-IN" sz="1800" b="1">
                <a:solidFill>
                  <a:schemeClr val="dk1"/>
                </a:solidFill>
                <a:latin typeface="Times New Roman"/>
                <a:ea typeface="Times New Roman"/>
                <a:cs typeface="Times New Roman"/>
                <a:sym typeface="Times New Roman"/>
              </a:rPr>
              <a:t>Osei, E., et al. (2024).</a:t>
            </a:r>
            <a:r>
              <a:rPr lang="en-IN" sz="1800">
                <a:solidFill>
                  <a:schemeClr val="dk1"/>
                </a:solidFill>
                <a:latin typeface="Times New Roman"/>
                <a:ea typeface="Times New Roman"/>
                <a:cs typeface="Times New Roman"/>
                <a:sym typeface="Times New Roman"/>
              </a:rPr>
              <a:t> </a:t>
            </a:r>
            <a:r>
              <a:rPr lang="en-IN" sz="1800" i="1">
                <a:solidFill>
                  <a:schemeClr val="dk1"/>
                </a:solidFill>
                <a:latin typeface="Times New Roman"/>
                <a:ea typeface="Times New Roman"/>
                <a:cs typeface="Times New Roman"/>
                <a:sym typeface="Times New Roman"/>
              </a:rPr>
              <a:t>Supply Chain 4.0 and the Digital Twin Approach: A Framework for Improving Supply Chain Visibility.</a:t>
            </a:r>
            <a:r>
              <a:rPr lang="en-IN" sz="1800">
                <a:solidFill>
                  <a:schemeClr val="dk1"/>
                </a:solidFill>
                <a:latin typeface="Times New Roman"/>
                <a:ea typeface="Times New Roman"/>
                <a:cs typeface="Times New Roman"/>
                <a:sym typeface="Times New Roman"/>
              </a:rPr>
              <a:t> </a:t>
            </a:r>
            <a:r>
              <a:rPr lang="en-IN" sz="1800" b="1">
                <a:solidFill>
                  <a:schemeClr val="dk1"/>
                </a:solidFill>
                <a:latin typeface="Times New Roman"/>
                <a:ea typeface="Times New Roman"/>
                <a:cs typeface="Times New Roman"/>
                <a:sym typeface="Times New Roman"/>
              </a:rPr>
              <a:t>Procedia CIRP.</a:t>
            </a:r>
            <a:r>
              <a:rPr lang="en-IN" sz="1800">
                <a:solidFill>
                  <a:schemeClr val="dk1"/>
                </a:solidFill>
                <a:latin typeface="Times New Roman"/>
                <a:ea typeface="Times New Roman"/>
                <a:cs typeface="Times New Roman"/>
                <a:sym typeface="Times New Roman"/>
              </a:rPr>
              <a:t> </a:t>
            </a:r>
            <a:endParaRPr/>
          </a:p>
          <a:p>
            <a:pPr marL="342900" marR="0" lvl="0" indent="-342900" algn="l" rtl="0">
              <a:lnSpc>
                <a:spcPct val="150000"/>
              </a:lnSpc>
              <a:spcBef>
                <a:spcPts val="0"/>
              </a:spcBef>
              <a:spcAft>
                <a:spcPts val="0"/>
              </a:spcAft>
              <a:buClr>
                <a:schemeClr val="dk1"/>
              </a:buClr>
              <a:buSzPts val="1800"/>
              <a:buFont typeface="Noto Sans Symbols"/>
              <a:buChar char="⮚"/>
            </a:pPr>
            <a:r>
              <a:rPr lang="en-IN" sz="1800" b="1">
                <a:solidFill>
                  <a:schemeClr val="dk1"/>
                </a:solidFill>
                <a:latin typeface="Times New Roman"/>
                <a:ea typeface="Times New Roman"/>
                <a:cs typeface="Times New Roman"/>
                <a:sym typeface="Times New Roman"/>
              </a:rPr>
              <a:t>Le, T. V., &amp; Fan, R. (2023).</a:t>
            </a:r>
            <a:r>
              <a:rPr lang="en-IN" sz="1800">
                <a:solidFill>
                  <a:schemeClr val="dk1"/>
                </a:solidFill>
                <a:latin typeface="Times New Roman"/>
                <a:ea typeface="Times New Roman"/>
                <a:cs typeface="Times New Roman"/>
                <a:sym typeface="Times New Roman"/>
              </a:rPr>
              <a:t> </a:t>
            </a:r>
            <a:r>
              <a:rPr lang="en-IN" sz="1800" i="1">
                <a:solidFill>
                  <a:schemeClr val="dk1"/>
                </a:solidFill>
                <a:latin typeface="Times New Roman"/>
                <a:ea typeface="Times New Roman"/>
                <a:cs typeface="Times New Roman"/>
                <a:sym typeface="Times New Roman"/>
              </a:rPr>
              <a:t>Digital Twins for Logistics and Supply Chain Systems: Literature Review, Conceptual Framework, Research Potential, and Practical Challenges.</a:t>
            </a:r>
            <a:r>
              <a:rPr lang="en-IN" sz="1800">
                <a:solidFill>
                  <a:schemeClr val="dk1"/>
                </a:solidFill>
                <a:latin typeface="Times New Roman"/>
                <a:ea typeface="Times New Roman"/>
                <a:cs typeface="Times New Roman"/>
                <a:sym typeface="Times New Roman"/>
              </a:rPr>
              <a:t> </a:t>
            </a:r>
            <a:r>
              <a:rPr lang="en-IN" sz="1800" b="1">
                <a:solidFill>
                  <a:schemeClr val="dk1"/>
                </a:solidFill>
                <a:latin typeface="Times New Roman"/>
                <a:ea typeface="Times New Roman"/>
                <a:cs typeface="Times New Roman"/>
                <a:sym typeface="Times New Roman"/>
              </a:rPr>
              <a:t>arXiv.</a:t>
            </a:r>
            <a:r>
              <a:rPr lang="en-IN" sz="1800">
                <a:solidFill>
                  <a:schemeClr val="dk1"/>
                </a:solidFill>
                <a:latin typeface="Times New Roman"/>
                <a:ea typeface="Times New Roman"/>
                <a:cs typeface="Times New Roman"/>
                <a:sym typeface="Times New Roman"/>
              </a:rPr>
              <a:t> </a:t>
            </a:r>
            <a:endParaRPr/>
          </a:p>
          <a:p>
            <a:pPr marL="342900" marR="0" lvl="0" indent="-342900" algn="l" rtl="0">
              <a:lnSpc>
                <a:spcPct val="150000"/>
              </a:lnSpc>
              <a:spcBef>
                <a:spcPts val="0"/>
              </a:spcBef>
              <a:spcAft>
                <a:spcPts val="0"/>
              </a:spcAft>
              <a:buClr>
                <a:schemeClr val="dk1"/>
              </a:buClr>
              <a:buSzPts val="1800"/>
              <a:buFont typeface="Noto Sans Symbols"/>
              <a:buChar char="⮚"/>
            </a:pPr>
            <a:r>
              <a:rPr lang="en-IN" sz="1800" b="1">
                <a:solidFill>
                  <a:schemeClr val="dk1"/>
                </a:solidFill>
                <a:latin typeface="Times New Roman"/>
                <a:ea typeface="Times New Roman"/>
                <a:cs typeface="Times New Roman"/>
                <a:sym typeface="Times New Roman"/>
              </a:rPr>
              <a:t>Wang, K., et al. (2020).</a:t>
            </a:r>
            <a:r>
              <a:rPr lang="en-IN" sz="1800">
                <a:solidFill>
                  <a:schemeClr val="dk1"/>
                </a:solidFill>
                <a:latin typeface="Times New Roman"/>
                <a:ea typeface="Times New Roman"/>
                <a:cs typeface="Times New Roman"/>
                <a:sym typeface="Times New Roman"/>
              </a:rPr>
              <a:t> </a:t>
            </a:r>
            <a:r>
              <a:rPr lang="en-IN" sz="1800" i="1">
                <a:solidFill>
                  <a:schemeClr val="dk1"/>
                </a:solidFill>
                <a:latin typeface="Times New Roman"/>
                <a:ea typeface="Times New Roman"/>
                <a:cs typeface="Times New Roman"/>
                <a:sym typeface="Times New Roman"/>
              </a:rPr>
              <a:t>Simulation-Based Digital Twin Development for Blockchain Enabled End-to-End Industrial Hemp Supply Chain Risk Management.</a:t>
            </a:r>
            <a:r>
              <a:rPr lang="en-IN" sz="1800">
                <a:solidFill>
                  <a:schemeClr val="dk1"/>
                </a:solidFill>
                <a:latin typeface="Times New Roman"/>
                <a:ea typeface="Times New Roman"/>
                <a:cs typeface="Times New Roman"/>
                <a:sym typeface="Times New Roman"/>
              </a:rPr>
              <a:t> </a:t>
            </a:r>
            <a:r>
              <a:rPr lang="en-IN" sz="1800" b="1">
                <a:solidFill>
                  <a:schemeClr val="dk1"/>
                </a:solidFill>
                <a:latin typeface="Times New Roman"/>
                <a:ea typeface="Times New Roman"/>
                <a:cs typeface="Times New Roman"/>
                <a:sym typeface="Times New Roman"/>
              </a:rPr>
              <a:t>arXiv.</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9"/>
          <p:cNvSpPr/>
          <p:nvPr/>
        </p:nvSpPr>
        <p:spPr>
          <a:xfrm>
            <a:off x="3113315" y="2505670"/>
            <a:ext cx="6466114" cy="923330"/>
          </a:xfrm>
          <a:prstGeom prst="rect">
            <a:avLst/>
          </a:prstGeom>
          <a:solidFill>
            <a:schemeClr val="lt1"/>
          </a:solidFill>
          <a:ln w="12700" cap="flat" cmpd="sng">
            <a:solidFill>
              <a:schemeClr val="accent6"/>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5400" b="1" dirty="0">
                <a:solidFill>
                  <a:srgbClr val="C4E0B2"/>
                </a:solidFill>
                <a:latin typeface="Calibri"/>
                <a:ea typeface="Calibri"/>
                <a:cs typeface="Calibri"/>
                <a:sym typeface="Calibri"/>
              </a:rPr>
              <a:t>T</a:t>
            </a:r>
            <a:r>
              <a:rPr lang="en-IN" sz="5400" b="1" dirty="0">
                <a:solidFill>
                  <a:srgbClr val="C4E0B2"/>
                </a:solidFill>
                <a:latin typeface="Calibri"/>
                <a:ea typeface="Calibri"/>
                <a:cs typeface="Calibri"/>
                <a:sym typeface="Calibri"/>
              </a:rPr>
              <a:t>hank You</a:t>
            </a:r>
            <a:endParaRPr dirty="0"/>
          </a:p>
        </p:txBody>
      </p:sp>
      <p:sp>
        <p:nvSpPr>
          <p:cNvPr id="2" name="TextBox 1">
            <a:extLst>
              <a:ext uri="{FF2B5EF4-FFF2-40B4-BE49-F238E27FC236}">
                <a16:creationId xmlns:a16="http://schemas.microsoft.com/office/drawing/2014/main" id="{98015882-441F-45B3-3925-63388C275DAA}"/>
              </a:ext>
            </a:extLst>
          </p:cNvPr>
          <p:cNvSpPr txBox="1"/>
          <p:nvPr/>
        </p:nvSpPr>
        <p:spPr>
          <a:xfrm>
            <a:off x="5030146" y="3708400"/>
            <a:ext cx="2632452" cy="307777"/>
          </a:xfrm>
          <a:prstGeom prst="rect">
            <a:avLst/>
          </a:prstGeom>
          <a:noFill/>
        </p:spPr>
        <p:txBody>
          <a:bodyPr wrap="none" rtlCol="0">
            <a:spAutoFit/>
          </a:bodyPr>
          <a:lstStyle/>
          <a:p>
            <a:r>
              <a:rPr lang="en-US" i="1" dirty="0"/>
              <a:t>Happy to Take Your Questions</a:t>
            </a:r>
            <a:endParaRPr lang="en-IN" i="1"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1666</Words>
  <Application>Microsoft Office PowerPoint</Application>
  <PresentationFormat>Widescreen</PresentationFormat>
  <Paragraphs>130</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Cambria</vt:lpstr>
      <vt:lpstr>Noto Sans Symbols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Praveen kumar C</cp:lastModifiedBy>
  <cp:revision>1</cp:revision>
  <dcterms:modified xsi:type="dcterms:W3CDTF">2026-09-03T12:53:25Z</dcterms:modified>
</cp:coreProperties>
</file>